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4.17.1, 2026-10-28.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behind every screen. They are written down in docs/10-ui-ux-specification.md.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deployment people sign in with their Windows account; the password form can be switched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 creates Drafts only. They still need every decision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the mapping changes by itself: a request, a reason, three different people, and every step in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holds every language and access level in the formats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languages; the language list shows the country letters and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is Automatic (system), Light or Dark and is kept on the device. Printouts and exports stay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menu folds away below 768 px and tables scroll inside their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docs/10-ui-ux-specification.md section 13 and the accessibility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Design walkthrough for the team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4.17.1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2026-10-28</a:t>
            </a:r>
          </a:p>
        </p:txBody>
      </p:sp>
      <p:pic>
        <p:nvPicPr>
          <p:cNvPr id="8" name="Screenshot login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Principl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inciple 1 number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Principle 1 head"/>
          <p:cNvSpPr txBox="1"/>
          <p:nvPr/>
        </p:nvSpPr>
        <p:spPr>
          <a:xfrm>
            <a:off x="146304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Same shell everywhere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822959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Top bar, role-based menu and tokens of the OneTool design system. No CDN, no framework.</a:t>
            </a:r>
          </a:p>
        </p:txBody>
      </p:sp>
      <p:sp>
        <p:nvSpPr>
          <p:cNvPr id="7" name="Principle 2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inciple 2 number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rinciple 2 head"/>
          <p:cNvSpPr txBox="1"/>
          <p:nvPr/>
        </p:nvSpPr>
        <p:spPr>
          <a:xfrm>
            <a:off x="708660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Colour means something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Roles, lifecycle states and confidence have fixed colours. Every pair is checked for contrast.</a:t>
            </a:r>
          </a:p>
        </p:txBody>
      </p:sp>
      <p:sp>
        <p:nvSpPr>
          <p:cNvPr id="11" name="Principle 3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inciple 3 number"/>
          <p:cNvSpPr/>
          <p:nvPr/>
        </p:nvSpPr>
        <p:spPr>
          <a:xfrm>
            <a:off x="822959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Principle 3 head"/>
          <p:cNvSpPr txBox="1"/>
          <p:nvPr/>
        </p:nvSpPr>
        <p:spPr>
          <a:xfrm>
            <a:off x="146304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Everyone can use it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822959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Keyboard operable, labelled controls, 19 languages, right to left, dark theme.</a:t>
            </a:r>
          </a:p>
        </p:txBody>
      </p:sp>
      <p:sp>
        <p:nvSpPr>
          <p:cNvPr id="15" name="Principle 4"/>
          <p:cNvSpPr/>
          <p:nvPr/>
        </p:nvSpPr>
        <p:spPr>
          <a:xfrm>
            <a:off x="617220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inciple 4 number"/>
          <p:cNvSpPr/>
          <p:nvPr/>
        </p:nvSpPr>
        <p:spPr>
          <a:xfrm>
            <a:off x="6446520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rinciple 4 head"/>
          <p:cNvSpPr txBox="1"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Nothing is lost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6446520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 rejected form keeps what was typed. Every action is audited.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Login</a:t>
            </a:r>
          </a:p>
        </p:txBody>
      </p:sp>
      <p:pic>
        <p:nvPicPr>
          <p:cNvPr id="3" name="Screenshot login" descr="The login pag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Password sign-in, with the language choice and the theme choice before anybody is signed in.</a:t>
            </a:r>
          </a:p>
        </p:txBody>
      </p:sp>
      <p:pic>
        <p:nvPicPr>
          <p:cNvPr id="5" name="Screenshot login_dark" descr="The login pag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the organisation uses Windows accounts, one button signs in with the Windows identity.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shell: top bar and menu</a:t>
            </a:r>
          </a:p>
        </p:txBody>
      </p:sp>
      <p:pic>
        <p:nvPicPr>
          <p:cNvPr id="3" name="Screenshot dashboard_admin" descr="The dashboard of an administrator with the ful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Top bar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Notices, theme, language, the person and their role badge, account and log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Groups open and close; the count beside a link is the work waiting there.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Role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is the highest role. The colours repeat in lists and reports.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Status Codes: find, filter, share</a:t>
            </a:r>
          </a:p>
        </p:txBody>
      </p:sp>
      <p:pic>
        <p:nvPicPr>
          <p:cNvPr id="3" name="Screenshot list" descr="The status code list with filters, columns and saved sear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Filters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Search tolerates typos; group, subgroup, platform, lifecycle and category narrow the list.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Columns and saved searches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Choose the columns, save a view and share its link.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State badges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Draft to Archived, always in the same colours and always with words.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Select, select all, delete Drafts</a:t>
            </a:r>
          </a:p>
        </p:txBody>
      </p:sp>
      <p:pic>
        <p:nvPicPr>
          <p:cNvPr id="3" name="Screenshot list_drafts" descr="The list filtered to Drafts with tick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Tick boxes for your own Drafts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Only the author can delete a Draft, so only these rows have a box.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box in the header ticks every Draft on the page.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All Drafts of a filter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When filtered to Draft, one button deletes your Drafts on every page.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A status code</a:t>
            </a:r>
          </a:p>
        </p:txBody>
      </p:sp>
      <p:pic>
        <p:nvPicPr>
          <p:cNvPr id="3" name="Screenshot detail" descr="The detail page of a released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Identity and state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number, the state badge and the sign-offs at a glance.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Details, history, comparison, where used, translations.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number, forever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number is issued once, at submit, and never reused.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Writing a code</a:t>
            </a:r>
          </a:p>
        </p:txBody>
      </p:sp>
      <p:pic>
        <p:nvPicPr>
          <p:cNvPr id="3" name="Screenshot new_form" descr="The form for a new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Help beside every field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choice explains itself; subgroups follow the group chosen.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Soft checks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Duplicates, similar titles and range capacity are shown while typing.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Nothing is lost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rejected save keeps every entry and says what to correct.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My work and the queues</a:t>
            </a:r>
          </a:p>
        </p:txBody>
      </p:sp>
      <p:pic>
        <p:nvPicPr>
          <p:cNvPr id="3" name="Screenshot my_requests" descr="The list of the engineer's own change requ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My Change Requests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Your own requests, their state, and who they wait for.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and withdraw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Tick several and withdraw them at once; each is reported.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Queues for the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Review and approval queues show the age of every request.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Review queue</a:t>
            </a:r>
          </a:p>
        </p:txBody>
      </p:sp>
      <p:pic>
        <p:nvPicPr>
          <p:cNvPr id="3" name="Screenshot review_queue" descr="The review queue of a revie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Waiting time as a pill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Green, amber and red follow the service level of the step.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Open and decide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One click to the request with its full history.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Separation of duties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 cannot review your own work.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Sign-off and approval</a:t>
            </a:r>
          </a:p>
        </p:txBody>
      </p:sp>
      <p:pic>
        <p:nvPicPr>
          <p:cNvPr id="3" name="Screenshot cr_detail" descr="A change request waiting for the Chief Engine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The strip of sign-offs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Domain, Reviewer, Administrator and Chief Engineer, each with name and time.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Comments and field notes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Decisions, comments and notes on single fields stay with the request.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Password for decisions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Sensitive steps ask for the password again.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Change sets and the workbench</a:t>
            </a:r>
          </a:p>
        </p:txBody>
      </p:sp>
      <p:pic>
        <p:nvPicPr>
          <p:cNvPr id="3" name="Screenshot workbench" descr="The workbench of the migration change s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Readiness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What still stops each Draft from being submitted.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Bulk edit and bulk steps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Set one value, submit, sign off or decide for the whole batch.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Sample inspection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Draw a sample, mark each code, and one defect stops the batch.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Importing from controller programs</a:t>
            </a:r>
          </a:p>
        </p:txBody>
      </p:sp>
      <p:pic>
        <p:nvPicPr>
          <p:cNvPr id="3" name="Screenshot st_form" descr="The upload form of the im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Upload files, a folder or a ZIP. The title, type and access levels come from the mapping.</a:t>
            </a:r>
          </a:p>
        </p:txBody>
      </p:sp>
      <p:pic>
        <p:nvPicPr>
          <p:cNvPr id="5" name="Screenshot st_preview" descr="The preview of the im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 program is a row with its new number, its type from the mapping, and what is wrong with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mapping and its three approvals</a:t>
            </a:r>
          </a:p>
        </p:txBody>
      </p:sp>
      <p:pic>
        <p:nvPicPr>
          <p:cNvPr id="3" name="Screenshot mapping" descr="The mapping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79" y="1188720"/>
            <a:ext cx="4280001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Which legacy code becomes which new one, with the title, type and access levels the programs do not carry.</a:t>
            </a:r>
          </a:p>
        </p:txBody>
      </p:sp>
      <p:pic>
        <p:nvPicPr>
          <p:cNvPr id="5" name="Screenshot mapping_change" descr="A request with two of its three approv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change takes effect only when the StCd Owner, the Chief Engineer and an Administrator have approved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Connections</a:t>
            </a:r>
          </a:p>
        </p:txBody>
      </p:sp>
      <p:pic>
        <p:nvPicPr>
          <p:cNvPr id="3" name="Screenshot connections" descr="The connections between status c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Suppressed by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code that is silenced while its cause is active.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Escalates to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a repeating code is replaced by its repeat code.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Read, not guessed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Taken from the programs; loops and missing codes are named.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and exports</a:t>
            </a:r>
          </a:p>
        </p:txBody>
      </p:sp>
      <p:pic>
        <p:nvPicPr>
          <p:cNvPr id="3" name="Screenshot release_builder" descr="The release bui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builder collects approved codes into an immutable release.</a:t>
            </a:r>
          </a:p>
        </p:txBody>
      </p:sp>
      <p:pic>
        <p:nvPicPr>
          <p:cNvPr id="5" name="Screenshot exports" descr="The export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Exports and the package, with the download rule applied.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Catalogue health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Capacity of the ranges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How full each number range is, and when it will run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for the controller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Main Controller rows blue, Hub Controller rows light blue.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Stalled work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Requests that wait too long are listed for the administrator.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Translations and confidence</a:t>
            </a:r>
          </a:p>
        </p:txBody>
      </p:sp>
      <p:pic>
        <p:nvPicPr>
          <p:cNvPr id="3" name="Screenshot translations" descr="The overview of the transl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row per language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Coverage, native-speaker review and the confidence of the pre-check.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Confidence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up to 50 %, green above 95 %.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New words are checked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Changed or new texts are checked and approved separately.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Languages and right to left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Arabic mirrors the whole layout: menu on the right, tables read from the right.</a:t>
            </a:r>
          </a:p>
        </p:txBody>
      </p:sp>
      <p:pic>
        <p:nvPicPr>
          <p:cNvPr id="5" name="Screenshot arabic_list" descr="The status code list in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Identifiers and numbers stay left to right inside the text.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Light and dark</a:t>
            </a:r>
          </a:p>
        </p:txBody>
      </p:sp>
      <p:pic>
        <p:nvPicPr>
          <p:cNvPr id="3" name="Screenshot detail" descr="A status cod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Light: ink on paper, for the office and for print.</a:t>
            </a:r>
          </a:p>
        </p:txBody>
      </p:sp>
      <p:pic>
        <p:nvPicPr>
          <p:cNvPr id="5" name="Screenshot detail_dark" descr="A status cod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Dark: the same page, with every colour pair checked for contrast.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People and roles</a:t>
            </a:r>
          </a:p>
        </p:txBody>
      </p:sp>
      <p:pic>
        <p:nvPicPr>
          <p:cNvPr id="3" name="Screenshot users" descr="The user admin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Six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Viewer, Engineer, Reviewer, Chief Engineer, Administrator, StCd Owner.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is the level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role badge colour is the same everywhere it appears.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Accounts by e-mail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e-mail address is fixed and links the Windows identity.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On a phone</a:t>
            </a:r>
          </a:p>
        </p:txBody>
      </p:sp>
      <p:pic>
        <p:nvPicPr>
          <p:cNvPr id="3" name="Screenshot phone_dashboard" descr="The dashboard on a ph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Dashboard</a:t>
            </a:r>
          </a:p>
        </p:txBody>
      </p:sp>
      <p:pic>
        <p:nvPicPr>
          <p:cNvPr id="5" name="Screenshot phone_list" descr="The status codes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301752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Status codes</a:t>
            </a:r>
          </a:p>
        </p:txBody>
      </p:sp>
      <p:sp>
        <p:nvSpPr>
          <p:cNvPr id="7" name="Note 1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Note 1 text"/>
          <p:cNvSpPr txBox="1"/>
          <p:nvPr/>
        </p:nvSpPr>
        <p:spPr>
          <a:xfrm>
            <a:off x="6309359" y="128016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 on demand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button opens the menu; Esc closes it.</a:t>
            </a:r>
          </a:p>
        </p:txBody>
      </p:sp>
      <p:sp>
        <p:nvSpPr>
          <p:cNvPr id="9" name="Note 2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Note 2 text"/>
          <p:cNvSpPr txBox="1"/>
          <p:nvPr/>
        </p:nvSpPr>
        <p:spPr>
          <a:xfrm>
            <a:off x="6309359" y="274320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Touch-sized targets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Buttons and links are at least 44 by 44 pixels.</a:t>
            </a:r>
          </a:p>
        </p:txBody>
      </p:sp>
      <p:sp>
        <p:nvSpPr>
          <p:cNvPr id="11" name="Note 3"/>
          <p:cNvSpPr/>
          <p:nvPr/>
        </p:nvSpPr>
        <p:spPr>
          <a:xfrm>
            <a:off x="5760720" y="4224527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Note 3 text"/>
          <p:cNvSpPr txBox="1"/>
          <p:nvPr/>
        </p:nvSpPr>
        <p:spPr>
          <a:xfrm>
            <a:off x="6309359" y="420624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 horizontal page scroll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Wide tables scroll inside their card.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Rules for every new screen</a:t>
            </a:r>
          </a:p>
        </p:txBody>
      </p:sp>
      <p:sp>
        <p:nvSpPr>
          <p:cNvPr id="3" name="Rule 1"/>
          <p:cNvSpPr/>
          <p:nvPr/>
        </p:nvSpPr>
        <p:spPr>
          <a:xfrm>
            <a:off x="548640" y="1280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le 1 number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ule 1 head"/>
          <p:cNvSpPr txBox="1"/>
          <p:nvPr/>
        </p:nvSpPr>
        <p:spPr>
          <a:xfrm>
            <a:off x="1463040" y="137160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Use tokens, never colours</a:t>
            </a:r>
          </a:p>
        </p:txBody>
      </p:sp>
      <p:sp>
        <p:nvSpPr>
          <p:cNvPr id="6" name="Rule 1 text"/>
          <p:cNvSpPr txBox="1"/>
          <p:nvPr/>
        </p:nvSpPr>
        <p:spPr>
          <a:xfrm>
            <a:off x="5029200" y="13716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var(--color-surface), var(--tint-warn-bg) ... A test fails on a hex colour outside the tokens.</a:t>
            </a:r>
          </a:p>
        </p:txBody>
      </p:sp>
      <p:sp>
        <p:nvSpPr>
          <p:cNvPr id="7" name="Rule 2"/>
          <p:cNvSpPr/>
          <p:nvPr/>
        </p:nvSpPr>
        <p:spPr>
          <a:xfrm>
            <a:off x="548640" y="226771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2 number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ule 2 head"/>
          <p:cNvSpPr txBox="1"/>
          <p:nvPr/>
        </p:nvSpPr>
        <p:spPr>
          <a:xfrm>
            <a:off x="1463040" y="2359152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Give a dark twin to a new token</a:t>
            </a:r>
          </a:p>
        </p:txBody>
      </p:sp>
      <p:sp>
        <p:nvSpPr>
          <p:cNvPr id="10" name="Rule 2 text"/>
          <p:cNvSpPr txBox="1"/>
          <p:nvPr/>
        </p:nvSpPr>
        <p:spPr>
          <a:xfrm>
            <a:off x="5029200" y="23591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light token without a dark value would stay light on a dark page.</a:t>
            </a:r>
          </a:p>
        </p:txBody>
      </p:sp>
      <p:sp>
        <p:nvSpPr>
          <p:cNvPr id="11" name="Rule 3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le 3 number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ule 3 head"/>
          <p:cNvSpPr txBox="1"/>
          <p:nvPr/>
        </p:nvSpPr>
        <p:spPr>
          <a:xfrm>
            <a:off x="1463040" y="3346704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Label every control</a:t>
            </a:r>
          </a:p>
        </p:txBody>
      </p:sp>
      <p:sp>
        <p:nvSpPr>
          <p:cNvPr id="14" name="Rule 3 text"/>
          <p:cNvSpPr txBox="1"/>
          <p:nvPr/>
        </p:nvSpPr>
        <p:spPr>
          <a:xfrm>
            <a:off x="5029200" y="3346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visible label or an accessible name; tables use scope on their headers.</a:t>
            </a:r>
          </a:p>
        </p:txBody>
      </p:sp>
      <p:sp>
        <p:nvSpPr>
          <p:cNvPr id="15" name="Rule 4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ule 4 number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ule 4 head"/>
          <p:cNvSpPr txBox="1"/>
          <p:nvPr/>
        </p:nvSpPr>
        <p:spPr>
          <a:xfrm>
            <a:off x="1463040" y="433425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Words for states, not only colour</a:t>
            </a:r>
          </a:p>
        </p:txBody>
      </p:sp>
      <p:sp>
        <p:nvSpPr>
          <p:cNvPr id="18" name="Rule 4 text"/>
          <p:cNvSpPr txBox="1"/>
          <p:nvPr/>
        </p:nvSpPr>
        <p:spPr>
          <a:xfrm>
            <a:off x="5029200" y="433425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Badges carry the state as text.</a:t>
            </a:r>
          </a:p>
        </p:txBody>
      </p:sp>
      <p:sp>
        <p:nvSpPr>
          <p:cNvPr id="19" name="Rule 5"/>
          <p:cNvSpPr/>
          <p:nvPr/>
        </p:nvSpPr>
        <p:spPr>
          <a:xfrm>
            <a:off x="548640" y="52303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le 5 number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ule 5 head"/>
          <p:cNvSpPr txBox="1"/>
          <p:nvPr/>
        </p:nvSpPr>
        <p:spPr>
          <a:xfrm>
            <a:off x="1463040" y="532180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Translate every text</a:t>
            </a:r>
          </a:p>
        </p:txBody>
      </p:sp>
      <p:sp>
        <p:nvSpPr>
          <p:cNvPr id="22" name="Rule 5 text"/>
          <p:cNvSpPr txBox="1"/>
          <p:nvPr/>
        </p:nvSpPr>
        <p:spPr>
          <a:xfrm>
            <a:off x="5029200" y="532180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New words go through the confidence check and a separate approval.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same rules, from login to release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One shell, tokens for every colour, both themes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Governance visible in every screen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Version 4.17.1: 1,082 tests, 19 languages</a:t>
            </a:r>
          </a:p>
        </p:txBody>
      </p:sp>
      <p:pic>
        <p:nvPicPr>
          <p:cNvPr id="4" name="Screenshot dashboard_dark" descr="The dashboard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v4.17.1  ·  Design walkthrough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the team - v4.17.1</dc:title>
  <dc:subject>Design showcase for the team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