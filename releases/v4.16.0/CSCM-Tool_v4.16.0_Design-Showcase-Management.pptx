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4.16.0, 2026-10-26. All screens in this deck are screenshots of the real application with fictitious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 in one slide: a code is created, reviewed, approved, versioned and released in one place, and everything else is derived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of an engineer. The menu on the left follows the role; the badge next to the name shows the role by colour.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single person can release a code: the author, a reviewer, an administrator and the Chief Engineer all take part, and a domain engineer signs off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Roughly 900 Main Controller and 350 Hub Controller codes pass the same governance as a single code. The sample inspection keeps bulk decisions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 come from the latest test report and the requirement documents of this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interface follows the user's language, can switch between light and dark, and works on a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Releases are immutable once published. The package is built in the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connections are read from the controller programs themselves, never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Taken from the improvement list of this version. Newest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wner"/>
          <p:cNvSpPr txBox="1"/>
          <p:nvPr/>
        </p:nvSpPr>
        <p:spPr>
          <a:xfrm>
            <a:off x="548640" y="2743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B4F8"/>
                </a:solidFill>
                <a:latin typeface="Calibri"/>
              </a:rPr>
              <a:t>Software Owner and Administrator: Bastian Ritter · bastian.ritter@senvion.in</a:t>
            </a:r>
          </a:p>
        </p:txBody>
      </p:sp>
      <p:pic>
        <p:nvPicPr>
          <p:cNvPr id="3" name="Logo" descr="Logo of the CSCM Tool: a wind turbine with a status ring between code bracke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371600" cy="1371600"/>
          </a:xfrm>
          <a:prstGeom prst="rect">
            <a:avLst/>
          </a:prstGeom>
        </p:spPr>
      </p:pic>
      <p:sp>
        <p:nvSpPr>
          <p:cNvPr id="4" name="Product"/>
          <p:cNvSpPr txBox="1"/>
          <p:nvPr/>
        </p:nvSpPr>
        <p:spPr>
          <a:xfrm>
            <a:off x="2194560" y="1051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CSCM Tool</a:t>
            </a:r>
          </a:p>
        </p:txBody>
      </p:sp>
      <p:sp>
        <p:nvSpPr>
          <p:cNvPr id="5" name="Long name"/>
          <p:cNvSpPr txBox="1"/>
          <p:nvPr/>
        </p:nvSpPr>
        <p:spPr>
          <a:xfrm>
            <a:off x="2194560" y="201168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8AB4F8"/>
                </a:solidFill>
                <a:latin typeface="Calibri"/>
              </a:rPr>
              <a:t>Controller Status Code Management Tool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246120"/>
            <a:ext cx="5852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Calibri"/>
              </a:rPr>
              <a:t>Management overview</a:t>
            </a:r>
          </a:p>
        </p:txBody>
      </p:sp>
      <p:sp>
        <p:nvSpPr>
          <p:cNvPr id="7" name="Version"/>
          <p:cNvSpPr txBox="1"/>
          <p:nvPr/>
        </p:nvSpPr>
        <p:spPr>
          <a:xfrm>
            <a:off x="548640" y="457200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Version 4.16.0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B4F8"/>
                </a:solidFill>
                <a:latin typeface="Calibri"/>
              </a:rPr>
              <a:t>2026-10-26</a:t>
            </a:r>
          </a:p>
        </p:txBody>
      </p:sp>
      <p:pic>
        <p:nvPicPr>
          <p:cNvPr id="8" name="Screenshot dashboard_dark" descr="The dashboard of the application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4937760" cy="30861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agline"/>
          <p:cNvSpPr txBox="1"/>
          <p:nvPr/>
        </p:nvSpPr>
        <p:spPr>
          <a:xfrm>
            <a:off x="6720840" y="4754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B4F8"/>
                </a:solidFill>
                <a:latin typeface="Calibri"/>
              </a:rPr>
              <a:t>Main Controllers and Hub Controllers of wind turbines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v4.16.0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50292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One governed source of truth for every status code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1 head"/>
          <p:cNvSpPr txBox="1"/>
          <p:nvPr/>
        </p:nvSpPr>
        <p:spPr>
          <a:xfrm>
            <a:off x="82295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Before</a:t>
            </a:r>
          </a:p>
        </p:txBody>
      </p:sp>
      <p:sp>
        <p:nvSpPr>
          <p:cNvPr id="5" name="Card 1 text"/>
          <p:cNvSpPr txBox="1"/>
          <p:nvPr/>
        </p:nvSpPr>
        <p:spPr>
          <a:xfrm>
            <a:off x="82295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Codes lived in documents. A change was hard to trace and hard to reuse.</a:t>
            </a:r>
          </a:p>
        </p:txBody>
      </p:sp>
      <p:sp>
        <p:nvSpPr>
          <p:cNvPr id="6" name="Card 2"/>
          <p:cNvSpPr/>
          <p:nvPr/>
        </p:nvSpPr>
        <p:spPr>
          <a:xfrm>
            <a:off x="429767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 2 head"/>
          <p:cNvSpPr txBox="1"/>
          <p:nvPr/>
        </p:nvSpPr>
        <p:spPr>
          <a:xfrm>
            <a:off x="4571999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With the tool</a:t>
            </a:r>
          </a:p>
        </p:txBody>
      </p:sp>
      <p:sp>
        <p:nvSpPr>
          <p:cNvPr id="8" name="Card 2 text"/>
          <p:cNvSpPr txBox="1"/>
          <p:nvPr/>
        </p:nvSpPr>
        <p:spPr>
          <a:xfrm>
            <a:off x="4571999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A code is created, reviewed, approved, versioned and released in one place.</a:t>
            </a:r>
          </a:p>
        </p:txBody>
      </p:sp>
      <p:sp>
        <p:nvSpPr>
          <p:cNvPr id="9" name="Card 3"/>
          <p:cNvSpPr/>
          <p:nvPr/>
        </p:nvSpPr>
        <p:spPr>
          <a:xfrm>
            <a:off x="8046719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0A3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 3 head"/>
          <p:cNvSpPr txBox="1"/>
          <p:nvPr/>
        </p:nvSpPr>
        <p:spPr>
          <a:xfrm>
            <a:off x="8321040" y="25603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8AB4F8"/>
                </a:solidFill>
                <a:latin typeface="Calibri"/>
              </a:rPr>
              <a:t>The result</a:t>
            </a:r>
          </a:p>
        </p:txBody>
      </p:sp>
      <p:sp>
        <p:nvSpPr>
          <p:cNvPr id="11" name="Card 3 text"/>
          <p:cNvSpPr txBox="1"/>
          <p:nvPr/>
        </p:nvSpPr>
        <p:spPr>
          <a:xfrm>
            <a:off x="8321040" y="3200400"/>
            <a:ext cx="30175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Calibri"/>
              </a:rPr>
              <a:t>Manuals, specifications and SCADA lists are produced from approved codes only.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v4.16.0  ·  Management overview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Everything people need, in one place</a:t>
            </a:r>
          </a:p>
        </p:txBody>
      </p:sp>
      <p:pic>
        <p:nvPicPr>
          <p:cNvPr id="3" name="Screenshot dashboard" descr="The dashboard with counters for the work that waits for the signed-in pers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menu for the role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Each person sees only what their role may do.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Work that waits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Counters and links lead straight to reviews, approvals and drafts.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Colour with meaning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Roles and lifecycle states have fixed colours, never decoration.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Three independent decisions before a release</a:t>
            </a:r>
          </a:p>
        </p:txBody>
      </p:sp>
      <p:sp>
        <p:nvSpPr>
          <p:cNvPr id="3" name="Step Draft"/>
          <p:cNvSpPr/>
          <p:nvPr/>
        </p:nvSpPr>
        <p:spPr>
          <a:xfrm>
            <a:off x="548640" y="1417320"/>
            <a:ext cx="2377440" cy="868680"/>
          </a:xfrm>
          <a:prstGeom prst="chevron">
            <a:avLst/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4" name="Step Review"/>
          <p:cNvSpPr/>
          <p:nvPr/>
        </p:nvSpPr>
        <p:spPr>
          <a:xfrm>
            <a:off x="2788920" y="1417320"/>
            <a:ext cx="2377440" cy="868680"/>
          </a:xfrm>
          <a:prstGeom prst="chevron">
            <a:avLst/>
          </a:prstGeom>
          <a:solidFill>
            <a:srgbClr val="2E6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5" name="Step Pending"/>
          <p:cNvSpPr/>
          <p:nvPr/>
        </p:nvSpPr>
        <p:spPr>
          <a:xfrm>
            <a:off x="5029200" y="1417320"/>
            <a:ext cx="2377440" cy="868680"/>
          </a:xfrm>
          <a:prstGeom prst="chevron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6" name="Step Approved"/>
          <p:cNvSpPr/>
          <p:nvPr/>
        </p:nvSpPr>
        <p:spPr>
          <a:xfrm>
            <a:off x="7269480" y="1417320"/>
            <a:ext cx="2377440" cy="868680"/>
          </a:xfrm>
          <a:prstGeom prst="chevron">
            <a:avLst/>
          </a:prstGeom>
          <a:solidFill>
            <a:srgbClr val="1E7F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7" name="Step Released"/>
          <p:cNvSpPr/>
          <p:nvPr/>
        </p:nvSpPr>
        <p:spPr>
          <a:xfrm>
            <a:off x="9509760" y="1417320"/>
            <a:ext cx="2377440" cy="868680"/>
          </a:xfrm>
          <a:prstGeom prst="chevron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Calibri"/>
              </a:rPr>
              <a:t>Released</a:t>
            </a:r>
          </a:p>
        </p:txBody>
      </p:sp>
      <p:sp>
        <p:nvSpPr>
          <p:cNvPr id="8" name="Decision 1"/>
          <p:cNvSpPr/>
          <p:nvPr/>
        </p:nvSpPr>
        <p:spPr>
          <a:xfrm>
            <a:off x="548640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ision 1 number"/>
          <p:cNvSpPr/>
          <p:nvPr/>
        </p:nvSpPr>
        <p:spPr>
          <a:xfrm>
            <a:off x="82295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Decision 1 head"/>
          <p:cNvSpPr txBox="1"/>
          <p:nvPr/>
        </p:nvSpPr>
        <p:spPr>
          <a:xfrm>
            <a:off x="1463040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Reviewer</a:t>
            </a:r>
          </a:p>
        </p:txBody>
      </p:sp>
      <p:sp>
        <p:nvSpPr>
          <p:cNvPr id="11" name="Decision 1 text"/>
          <p:cNvSpPr txBox="1"/>
          <p:nvPr/>
        </p:nvSpPr>
        <p:spPr>
          <a:xfrm>
            <a:off x="82295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Checks content and wording, and signs off.</a:t>
            </a:r>
          </a:p>
        </p:txBody>
      </p:sp>
      <p:sp>
        <p:nvSpPr>
          <p:cNvPr id="12" name="Decision 2"/>
          <p:cNvSpPr/>
          <p:nvPr/>
        </p:nvSpPr>
        <p:spPr>
          <a:xfrm>
            <a:off x="429767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cision 2 number"/>
          <p:cNvSpPr/>
          <p:nvPr/>
        </p:nvSpPr>
        <p:spPr>
          <a:xfrm>
            <a:off x="4571999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Decision 2 head"/>
          <p:cNvSpPr txBox="1"/>
          <p:nvPr/>
        </p:nvSpPr>
        <p:spPr>
          <a:xfrm>
            <a:off x="521207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Administrator</a:t>
            </a:r>
          </a:p>
        </p:txBody>
      </p:sp>
      <p:sp>
        <p:nvSpPr>
          <p:cNvPr id="15" name="Decision 2 text"/>
          <p:cNvSpPr txBox="1"/>
          <p:nvPr/>
        </p:nvSpPr>
        <p:spPr>
          <a:xfrm>
            <a:off x="4571999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Confirms audience access and signs off.</a:t>
            </a:r>
          </a:p>
        </p:txBody>
      </p:sp>
      <p:sp>
        <p:nvSpPr>
          <p:cNvPr id="16" name="Decision 3"/>
          <p:cNvSpPr/>
          <p:nvPr/>
        </p:nvSpPr>
        <p:spPr>
          <a:xfrm>
            <a:off x="8046719" y="2834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ecision 3 number"/>
          <p:cNvSpPr/>
          <p:nvPr/>
        </p:nvSpPr>
        <p:spPr>
          <a:xfrm>
            <a:off x="8321040" y="3108960"/>
            <a:ext cx="457200" cy="457200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Decision 3 head"/>
          <p:cNvSpPr txBox="1"/>
          <p:nvPr/>
        </p:nvSpPr>
        <p:spPr>
          <a:xfrm>
            <a:off x="8961119" y="30906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02E6D"/>
                </a:solidFill>
                <a:latin typeface="Calibri"/>
              </a:rPr>
              <a:t>Chief Engineer</a:t>
            </a:r>
          </a:p>
        </p:txBody>
      </p:sp>
      <p:sp>
        <p:nvSpPr>
          <p:cNvPr id="19" name="Decision 3 text"/>
          <p:cNvSpPr txBox="1"/>
          <p:nvPr/>
        </p:nvSpPr>
        <p:spPr>
          <a:xfrm>
            <a:off x="8321040" y="3794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Approves. Nobody can approve their own work.</a:t>
            </a:r>
          </a:p>
        </p:txBody>
      </p:sp>
      <p:sp>
        <p:nvSpPr>
          <p:cNvPr id="20" name="Note"/>
          <p:cNvSpPr txBox="1"/>
          <p:nvPr/>
        </p:nvSpPr>
        <p:spPr>
          <a:xfrm>
            <a:off x="548640" y="51663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Before the review, the engineering domains concerned sign off the content (cross-domain sign-off). Every step is recorded in an audit log that cannot be changed.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Management overview</a:t>
            </a:r>
          </a:p>
        </p:txBody>
      </p:sp>
      <p:sp>
        <p:nvSpPr>
          <p:cNvPr id="22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The first migration: about 1,250 codes</a:t>
            </a:r>
          </a:p>
        </p:txBody>
      </p:sp>
      <p:pic>
        <p:nvPicPr>
          <p:cNvPr id="3" name="Screenshot st_preview" descr="The preview of an import from controller program 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Programs are read from the controller files and previewed. Nothing is created until a person has looked.</a:t>
            </a:r>
          </a:p>
        </p:txBody>
      </p:sp>
      <p:pic>
        <p:nvPicPr>
          <p:cNvPr id="5" name="Screenshot workbench" descr="The workbench of a change set with the readiness of every dra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The workbench lets each step work on the whole batch, with a sample inspection that one defect can stop.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Built to be trusted</a:t>
            </a:r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igure 1"/>
          <p:cNvSpPr txBox="1"/>
          <p:nvPr/>
        </p:nvSpPr>
        <p:spPr>
          <a:xfrm>
            <a:off x="731520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1,019</a:t>
            </a:r>
          </a:p>
        </p:txBody>
      </p:sp>
      <p:sp>
        <p:nvSpPr>
          <p:cNvPr id="5" name="Label 1"/>
          <p:cNvSpPr txBox="1"/>
          <p:nvPr/>
        </p:nvSpPr>
        <p:spPr>
          <a:xfrm>
            <a:off x="777240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automated tests, all passing</a:t>
            </a:r>
          </a:p>
        </p:txBody>
      </p:sp>
      <p:sp>
        <p:nvSpPr>
          <p:cNvPr id="6" name="Card 2"/>
          <p:cNvSpPr/>
          <p:nvPr/>
        </p:nvSpPr>
        <p:spPr>
          <a:xfrm>
            <a:off x="3390138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ure 2"/>
          <p:cNvSpPr txBox="1"/>
          <p:nvPr/>
        </p:nvSpPr>
        <p:spPr>
          <a:xfrm>
            <a:off x="3573018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93 %</a:t>
            </a:r>
          </a:p>
        </p:txBody>
      </p:sp>
      <p:sp>
        <p:nvSpPr>
          <p:cNvPr id="8" name="Label 2"/>
          <p:cNvSpPr txBox="1"/>
          <p:nvPr/>
        </p:nvSpPr>
        <p:spPr>
          <a:xfrm>
            <a:off x="3618738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of the application code covered</a:t>
            </a:r>
          </a:p>
        </p:txBody>
      </p:sp>
      <p:sp>
        <p:nvSpPr>
          <p:cNvPr id="9" name="Card 3"/>
          <p:cNvSpPr/>
          <p:nvPr/>
        </p:nvSpPr>
        <p:spPr>
          <a:xfrm>
            <a:off x="6231636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ure 3"/>
          <p:cNvSpPr txBox="1"/>
          <p:nvPr/>
        </p:nvSpPr>
        <p:spPr>
          <a:xfrm>
            <a:off x="6414516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215</a:t>
            </a:r>
          </a:p>
        </p:txBody>
      </p:sp>
      <p:sp>
        <p:nvSpPr>
          <p:cNvPr id="11" name="Label 3"/>
          <p:cNvSpPr txBox="1"/>
          <p:nvPr/>
        </p:nvSpPr>
        <p:spPr>
          <a:xfrm>
            <a:off x="6460236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requirements, each traced to tests</a:t>
            </a:r>
          </a:p>
        </p:txBody>
      </p:sp>
      <p:sp>
        <p:nvSpPr>
          <p:cNvPr id="12" name="Card 4"/>
          <p:cNvSpPr/>
          <p:nvPr/>
        </p:nvSpPr>
        <p:spPr>
          <a:xfrm>
            <a:off x="9073134" y="1463040"/>
            <a:ext cx="2567178" cy="2926080"/>
          </a:xfrm>
          <a:prstGeom prst="roundRect">
            <a:avLst>
              <a:gd name="adj" fmla="val 4274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igure 4"/>
          <p:cNvSpPr txBox="1"/>
          <p:nvPr/>
        </p:nvSpPr>
        <p:spPr>
          <a:xfrm>
            <a:off x="9256013" y="1783080"/>
            <a:ext cx="2201418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02E6D"/>
                </a:solidFill>
                <a:latin typeface="Calibri"/>
              </a:rPr>
              <a:t>19</a:t>
            </a:r>
          </a:p>
        </p:txBody>
      </p:sp>
      <p:sp>
        <p:nvSpPr>
          <p:cNvPr id="14" name="Label 4"/>
          <p:cNvSpPr txBox="1"/>
          <p:nvPr/>
        </p:nvSpPr>
        <p:spPr>
          <a:xfrm>
            <a:off x="9301734" y="3154680"/>
            <a:ext cx="210997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languages, including right to left</a:t>
            </a:r>
          </a:p>
        </p:txBody>
      </p:sp>
      <p:sp>
        <p:nvSpPr>
          <p:cNvPr id="15" name="Note"/>
          <p:cNvSpPr txBox="1"/>
          <p:nvPr/>
        </p:nvSpPr>
        <p:spPr>
          <a:xfrm>
            <a:off x="548640" y="4800600"/>
            <a:ext cx="110916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F6B7A"/>
                </a:solidFill>
                <a:latin typeface="Calibri"/>
              </a:rPr>
              <a:t>The REST API has 161 operations, the database 61 tables. Every change of a code is kept with who, when and why.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Management overview</a:t>
            </a:r>
          </a:p>
        </p:txBody>
      </p:sp>
      <p:sp>
        <p:nvSpPr>
          <p:cNvPr id="17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Looks right in every language and light</a:t>
            </a:r>
          </a:p>
        </p:txBody>
      </p:sp>
      <p:pic>
        <p:nvPicPr>
          <p:cNvPr id="3" name="Screenshot arabic" descr="The dashboard in Arab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Right to left for Arabic</a:t>
            </a:r>
          </a:p>
        </p:txBody>
      </p:sp>
      <p:pic>
        <p:nvPicPr>
          <p:cNvPr id="5" name="Screenshot dashboard_dark" descr="The dashboard in the dark the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59" y="1188720"/>
            <a:ext cx="3886200" cy="24288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4709159" y="3754755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Dark theme, set by the system or by choice</a:t>
            </a:r>
          </a:p>
        </p:txBody>
      </p:sp>
      <p:pic>
        <p:nvPicPr>
          <p:cNvPr id="7" name="Screenshot phone_dashboard" descr="The dashboard on a phon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1357884"/>
            <a:ext cx="2057400" cy="41148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Caption 3"/>
          <p:cNvSpPr txBox="1"/>
          <p:nvPr/>
        </p:nvSpPr>
        <p:spPr>
          <a:xfrm>
            <a:off x="8869680" y="57150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And on a phone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Management overview</a:t>
            </a:r>
          </a:p>
        </p:txBody>
      </p:sp>
      <p:sp>
        <p:nvSpPr>
          <p:cNvPr id="10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Releases people can rely on</a:t>
            </a:r>
          </a:p>
        </p:txBody>
      </p:sp>
      <p:pic>
        <p:nvPicPr>
          <p:cNvPr id="3" name="Screenshot release_builder" descr="The release builder with the approved codes of the next rele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7498079" cy="46862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Note 1"/>
          <p:cNvSpPr/>
          <p:nvPr/>
        </p:nvSpPr>
        <p:spPr>
          <a:xfrm>
            <a:off x="8458199" y="125272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Note 1 text"/>
          <p:cNvSpPr txBox="1"/>
          <p:nvPr/>
        </p:nvSpPr>
        <p:spPr>
          <a:xfrm>
            <a:off x="9006839" y="123444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fixed baseline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 release holds the latest published revision of every code.</a:t>
            </a:r>
          </a:p>
        </p:txBody>
      </p:sp>
      <p:sp>
        <p:nvSpPr>
          <p:cNvPr id="6" name="Note 2"/>
          <p:cNvSpPr/>
          <p:nvPr/>
        </p:nvSpPr>
        <p:spPr>
          <a:xfrm>
            <a:off x="8458199" y="274624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Note 2 text"/>
          <p:cNvSpPr txBox="1"/>
          <p:nvPr/>
        </p:nvSpPr>
        <p:spPr>
          <a:xfrm>
            <a:off x="9006839" y="272796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package for every audience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All languages, access levels and formats in one download.</a:t>
            </a:r>
          </a:p>
        </p:txBody>
      </p:sp>
      <p:sp>
        <p:nvSpPr>
          <p:cNvPr id="8" name="Note 3"/>
          <p:cNvSpPr/>
          <p:nvPr/>
        </p:nvSpPr>
        <p:spPr>
          <a:xfrm>
            <a:off x="8458199" y="4239768"/>
            <a:ext cx="384048" cy="384048"/>
          </a:xfrm>
          <a:prstGeom prst="ellipse">
            <a:avLst/>
          </a:prstGeom>
          <a:solidFill>
            <a:srgbClr val="002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Note 3 text"/>
          <p:cNvSpPr txBox="1"/>
          <p:nvPr/>
        </p:nvSpPr>
        <p:spPr>
          <a:xfrm>
            <a:off x="9006839" y="4221480"/>
            <a:ext cx="2633472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02E6D"/>
                </a:solidFill>
                <a:latin typeface="Calibri"/>
              </a:rPr>
              <a:t>A clear download rule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Everyone downloads what is released; the working set stays internal.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Management overview</a:t>
            </a:r>
          </a:p>
        </p:txBody>
      </p:sp>
      <p:sp>
        <p:nvSpPr>
          <p:cNvPr id="11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Insight for engineering</a:t>
            </a:r>
          </a:p>
        </p:txBody>
      </p:sp>
      <p:pic>
        <p:nvPicPr>
          <p:cNvPr id="3" name="Screenshot health" descr="The catalogue health repo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4" name="Caption 1"/>
          <p:cNvSpPr txBox="1"/>
          <p:nvPr/>
        </p:nvSpPr>
        <p:spPr>
          <a:xfrm>
            <a:off x="548640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Catalogue health: how full each number range is, and what stalls.</a:t>
            </a:r>
          </a:p>
        </p:txBody>
      </p:sp>
      <p:pic>
        <p:nvPicPr>
          <p:cNvPr id="5" name="Screenshot connections" descr="The connections between status cod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88720"/>
            <a:ext cx="5440680" cy="340042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6" name="Caption 2"/>
          <p:cNvSpPr txBox="1"/>
          <p:nvPr/>
        </p:nvSpPr>
        <p:spPr>
          <a:xfrm>
            <a:off x="6199632" y="4772025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1"/>
                </a:solidFill>
                <a:latin typeface="Calibri"/>
              </a:rPr>
              <a:t>Connections: which code suppresses, requires or escalates to which.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Management overview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2E6D"/>
                </a:solidFill>
                <a:latin typeface="Calibri"/>
              </a:rPr>
              <a:t>Recently delivered</a:t>
            </a:r>
          </a:p>
        </p:txBody>
      </p:sp>
      <p:sp>
        <p:nvSpPr>
          <p:cNvPr id="3" name="Row 1"/>
          <p:cNvSpPr/>
          <p:nvPr/>
        </p:nvSpPr>
        <p:spPr>
          <a:xfrm>
            <a:off x="548640" y="132588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w 1 version"/>
          <p:cNvSpPr txBox="1"/>
          <p:nvPr/>
        </p:nvSpPr>
        <p:spPr>
          <a:xfrm>
            <a:off x="777240" y="1417320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v4.13.0</a:t>
            </a:r>
          </a:p>
        </p:txBody>
      </p:sp>
      <p:sp>
        <p:nvSpPr>
          <p:cNvPr id="5" name="Row 1 text"/>
          <p:cNvSpPr txBox="1"/>
          <p:nvPr/>
        </p:nvSpPr>
        <p:spPr>
          <a:xfrm>
            <a:off x="2651760" y="1371600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Bulk workflow for the migration — I-70 with I-61 and I-62</a:t>
            </a:r>
          </a:p>
        </p:txBody>
      </p:sp>
      <p:sp>
        <p:nvSpPr>
          <p:cNvPr id="6" name="Row 1 requirement"/>
          <p:cNvSpPr txBox="1"/>
          <p:nvPr/>
        </p:nvSpPr>
        <p:spPr>
          <a:xfrm>
            <a:off x="10332719" y="1417320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FR-180</a:t>
            </a:r>
          </a:p>
        </p:txBody>
      </p:sp>
      <p:sp>
        <p:nvSpPr>
          <p:cNvPr id="7" name="Row 2"/>
          <p:cNvSpPr/>
          <p:nvPr/>
        </p:nvSpPr>
        <p:spPr>
          <a:xfrm>
            <a:off x="548640" y="2084831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w 2 version"/>
          <p:cNvSpPr txBox="1"/>
          <p:nvPr/>
        </p:nvSpPr>
        <p:spPr>
          <a:xfrm>
            <a:off x="777240" y="217627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v4.13.1 / v4.13.2</a:t>
            </a:r>
          </a:p>
        </p:txBody>
      </p:sp>
      <p:sp>
        <p:nvSpPr>
          <p:cNvPr id="9" name="Row 2 text"/>
          <p:cNvSpPr txBox="1"/>
          <p:nvPr/>
        </p:nvSpPr>
        <p:spPr>
          <a:xfrm>
            <a:off x="2651760" y="2130551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Select-all on every list with tick boxes</a:t>
            </a:r>
          </a:p>
        </p:txBody>
      </p:sp>
      <p:sp>
        <p:nvSpPr>
          <p:cNvPr id="10" name="Row 2 requirement"/>
          <p:cNvSpPr txBox="1"/>
          <p:nvPr/>
        </p:nvSpPr>
        <p:spPr>
          <a:xfrm>
            <a:off x="10332719" y="2176272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FR-181, FR-182</a:t>
            </a:r>
          </a:p>
        </p:txBody>
      </p:sp>
      <p:sp>
        <p:nvSpPr>
          <p:cNvPr id="11" name="Row 3"/>
          <p:cNvSpPr/>
          <p:nvPr/>
        </p:nvSpPr>
        <p:spPr>
          <a:xfrm>
            <a:off x="548640" y="2843784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3 version"/>
          <p:cNvSpPr txBox="1"/>
          <p:nvPr/>
        </p:nvSpPr>
        <p:spPr>
          <a:xfrm>
            <a:off x="777240" y="293522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v4.14.0</a:t>
            </a:r>
          </a:p>
        </p:txBody>
      </p:sp>
      <p:sp>
        <p:nvSpPr>
          <p:cNvPr id="13" name="Row 3 text"/>
          <p:cNvSpPr txBox="1"/>
          <p:nvPr/>
        </p:nvSpPr>
        <p:spPr>
          <a:xfrm>
            <a:off x="2651760" y="2889503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Dark mode</a:t>
            </a:r>
          </a:p>
        </p:txBody>
      </p:sp>
      <p:sp>
        <p:nvSpPr>
          <p:cNvPr id="14" name="Row 3 requirement"/>
          <p:cNvSpPr txBox="1"/>
          <p:nvPr/>
        </p:nvSpPr>
        <p:spPr>
          <a:xfrm>
            <a:off x="10332719" y="2935224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FR-183</a:t>
            </a:r>
          </a:p>
        </p:txBody>
      </p:sp>
      <p:sp>
        <p:nvSpPr>
          <p:cNvPr id="15" name="Row 4"/>
          <p:cNvSpPr/>
          <p:nvPr/>
        </p:nvSpPr>
        <p:spPr>
          <a:xfrm>
            <a:off x="548640" y="3602735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4 version"/>
          <p:cNvSpPr txBox="1"/>
          <p:nvPr/>
        </p:nvSpPr>
        <p:spPr>
          <a:xfrm>
            <a:off x="777240" y="3694175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v4.14.1</a:t>
            </a:r>
          </a:p>
        </p:txBody>
      </p:sp>
      <p:sp>
        <p:nvSpPr>
          <p:cNvPr id="17" name="Row 4 text"/>
          <p:cNvSpPr txBox="1"/>
          <p:nvPr/>
        </p:nvSpPr>
        <p:spPr>
          <a:xfrm>
            <a:off x="2651760" y="3648455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Visible version</a:t>
            </a:r>
          </a:p>
        </p:txBody>
      </p:sp>
      <p:sp>
        <p:nvSpPr>
          <p:cNvPr id="18" name="Row 4 requirement"/>
          <p:cNvSpPr txBox="1"/>
          <p:nvPr/>
        </p:nvSpPr>
        <p:spPr>
          <a:xfrm>
            <a:off x="10332719" y="3694175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FR-184</a:t>
            </a:r>
          </a:p>
        </p:txBody>
      </p:sp>
      <p:sp>
        <p:nvSpPr>
          <p:cNvPr id="19" name="Row 5"/>
          <p:cNvSpPr/>
          <p:nvPr/>
        </p:nvSpPr>
        <p:spPr>
          <a:xfrm>
            <a:off x="548640" y="4361688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5 version"/>
          <p:cNvSpPr txBox="1"/>
          <p:nvPr/>
        </p:nvSpPr>
        <p:spPr>
          <a:xfrm>
            <a:off x="777240" y="4453127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v4.15.0</a:t>
            </a:r>
          </a:p>
        </p:txBody>
      </p:sp>
      <p:sp>
        <p:nvSpPr>
          <p:cNvPr id="21" name="Row 5 text"/>
          <p:cNvSpPr txBox="1"/>
          <p:nvPr/>
        </p:nvSpPr>
        <p:spPr>
          <a:xfrm>
            <a:off x="2651760" y="4407407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Release documents as PDF</a:t>
            </a:r>
          </a:p>
        </p:txBody>
      </p:sp>
      <p:sp>
        <p:nvSpPr>
          <p:cNvPr id="22" name="Row 5 requirement"/>
          <p:cNvSpPr txBox="1"/>
          <p:nvPr/>
        </p:nvSpPr>
        <p:spPr>
          <a:xfrm>
            <a:off x="10332719" y="4453127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FR-185</a:t>
            </a:r>
          </a:p>
        </p:txBody>
      </p:sp>
      <p:sp>
        <p:nvSpPr>
          <p:cNvPr id="23" name="Row 6"/>
          <p:cNvSpPr/>
          <p:nvPr/>
        </p:nvSpPr>
        <p:spPr>
          <a:xfrm>
            <a:off x="548640" y="5120640"/>
            <a:ext cx="11091672" cy="658368"/>
          </a:xfrm>
          <a:prstGeom prst="roundRect">
            <a:avLst>
              <a:gd name="adj" fmla="val 13888"/>
            </a:avLst>
          </a:prstGeom>
          <a:solidFill>
            <a:srgbClr val="F7F9FB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6 version"/>
          <p:cNvSpPr txBox="1"/>
          <p:nvPr/>
        </p:nvSpPr>
        <p:spPr>
          <a:xfrm>
            <a:off x="777240" y="521207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2E6D"/>
                </a:solidFill>
                <a:latin typeface="Calibri"/>
              </a:rPr>
              <a:t>v4.16.0</a:t>
            </a:r>
          </a:p>
        </p:txBody>
      </p:sp>
      <p:sp>
        <p:nvSpPr>
          <p:cNvPr id="25" name="Row 6 text"/>
          <p:cNvSpPr txBox="1"/>
          <p:nvPr/>
        </p:nvSpPr>
        <p:spPr>
          <a:xfrm>
            <a:off x="2651760" y="5166359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A1D21"/>
                </a:solidFill>
                <a:latin typeface="Calibri"/>
              </a:rPr>
              <a:t>Design showcase decks</a:t>
            </a:r>
          </a:p>
        </p:txBody>
      </p:sp>
      <p:sp>
        <p:nvSpPr>
          <p:cNvPr id="26" name="Row 6 requirement"/>
          <p:cNvSpPr txBox="1"/>
          <p:nvPr/>
        </p:nvSpPr>
        <p:spPr>
          <a:xfrm>
            <a:off x="10332719" y="5212079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F6B7A"/>
                </a:solidFill>
                <a:latin typeface="Calibri"/>
              </a:rPr>
              <a:t>FR-186, FR-187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CSCM Tool v4.16.0  ·  Management overview</a:t>
            </a:r>
          </a:p>
        </p:txBody>
      </p:sp>
      <p:sp>
        <p:nvSpPr>
          <p:cNvPr id="28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E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1097280"/>
            <a:ext cx="110642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Governed, traceable, ready for the first migration</a:t>
            </a:r>
          </a:p>
        </p:txBody>
      </p:sp>
      <p:sp>
        <p:nvSpPr>
          <p:cNvPr id="3" name="Summary"/>
          <p:cNvSpPr txBox="1"/>
          <p:nvPr/>
        </p:nvSpPr>
        <p:spPr>
          <a:xfrm>
            <a:off x="548640" y="2834640"/>
            <a:ext cx="65836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Every code created, reviewed, approved and released in one tool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Bulk work for the migration, kept honest by a sample inspection</a:t>
            </a:r>
          </a:p>
          <a:p>
            <a:pPr algn="l" marL="228600" indent="-228600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FFFFFF"/>
                </a:solidFill>
                <a:latin typeface="Calibri"/>
              </a:rPr>
              <a:t>Languages, accessibility and a dark theme from the start</a:t>
            </a:r>
          </a:p>
        </p:txBody>
      </p:sp>
      <p:pic>
        <p:nvPicPr>
          <p:cNvPr id="4" name="Screenshot login_dark" descr="The login page in the dark them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651760"/>
            <a:ext cx="4114800" cy="257175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CSCM Tool v4.16.0  ·  Management overview</a:t>
            </a:r>
          </a:p>
        </p:txBody>
      </p:sp>
      <p:sp>
        <p:nvSpPr>
          <p:cNvPr id="6" name="Page"/>
          <p:cNvSpPr txBox="1"/>
          <p:nvPr/>
        </p:nvSpPr>
        <p:spPr>
          <a:xfrm>
            <a:off x="10607040" y="6382512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B4F8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CSCM Tool - Design showcase for management - v4.16.0</dc:title>
  <dc:subject>Design showcase for management</dc:subject>
  <dc:creator>CSCM Tool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