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4.16.0, 2026-10-26. All screens in this deck are screenshots of the real application with fictitious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behind every screen. They are written down in docs/10-ui-ux-specification.md.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deployment people sign in with their Windows account; the password form can be switched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import creates Drafts only. They still need every decision before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package holds every language and access level in the formats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languages; the language list shows the country letters and the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choice is Automatic (system), Light or Dark and is kept on the device. Printouts and exports stay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menu folds away below 768 px and tables scroll inside their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docs/10-ui-ux-specification.md section 13 and the accessibility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wner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B4F8"/>
                </a:solidFill>
                <a:latin typeface="Calibri"/>
              </a:rPr>
              <a:t>Software Owner and Administrator: Bastian Ritter · bastian.ritter@senvion.in</a:t>
            </a:r>
          </a:p>
        </p:txBody>
      </p:sp>
      <p:pic>
        <p:nvPicPr>
          <p:cNvPr id="3" name="Logo" descr="Logo of the CSCM Tool: a wind turbine with a status ring between code brack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71600" cy="1371600"/>
          </a:xfrm>
          <a:prstGeom prst="rect">
            <a:avLst/>
          </a:prstGeom>
        </p:spPr>
      </p:pic>
      <p:sp>
        <p:nvSpPr>
          <p:cNvPr id="4" name="Product"/>
          <p:cNvSpPr txBox="1"/>
          <p:nvPr/>
        </p:nvSpPr>
        <p:spPr>
          <a:xfrm>
            <a:off x="2194560" y="1051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CSCM Tool</a:t>
            </a:r>
          </a:p>
        </p:txBody>
      </p:sp>
      <p:sp>
        <p:nvSpPr>
          <p:cNvPr id="5" name="Long name"/>
          <p:cNvSpPr txBox="1"/>
          <p:nvPr/>
        </p:nvSpPr>
        <p:spPr>
          <a:xfrm>
            <a:off x="2194560" y="20116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B4F8"/>
                </a:solidFill>
                <a:latin typeface="Calibri"/>
              </a:rPr>
              <a:t>Controller Status Code Management Tool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Design walkthrough for the team</a:t>
            </a:r>
          </a:p>
        </p:txBody>
      </p:sp>
      <p:sp>
        <p:nvSpPr>
          <p:cNvPr id="7" name="Version"/>
          <p:cNvSpPr txBox="1"/>
          <p:nvPr/>
        </p:nvSpPr>
        <p:spPr>
          <a:xfrm>
            <a:off x="548640" y="45720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Version 4.16.0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B4F8"/>
                </a:solidFill>
                <a:latin typeface="Calibri"/>
              </a:rPr>
              <a:t>2026-10-26</a:t>
            </a:r>
          </a:p>
        </p:txBody>
      </p:sp>
      <p:pic>
        <p:nvPicPr>
          <p:cNvPr id="8" name="Screenshot login_dark" descr="The dashboard of the application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agline"/>
          <p:cNvSpPr txBox="1"/>
          <p:nvPr/>
        </p:nvSpPr>
        <p:spPr>
          <a:xfrm>
            <a:off x="6720840" y="4754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B4F8"/>
                </a:solidFill>
                <a:latin typeface="Calibri"/>
              </a:rPr>
              <a:t>Main Controllers and Hub Controllers of wind turbines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Design principles</a:t>
            </a:r>
          </a:p>
        </p:txBody>
      </p:sp>
      <p:sp>
        <p:nvSpPr>
          <p:cNvPr id="3" name="Principle 1"/>
          <p:cNvSpPr/>
          <p:nvPr/>
        </p:nvSpPr>
        <p:spPr>
          <a:xfrm>
            <a:off x="548640" y="1280160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inciple 1 number"/>
          <p:cNvSpPr/>
          <p:nvPr/>
        </p:nvSpPr>
        <p:spPr>
          <a:xfrm>
            <a:off x="822959" y="15544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Principle 1 head"/>
          <p:cNvSpPr txBox="1"/>
          <p:nvPr/>
        </p:nvSpPr>
        <p:spPr>
          <a:xfrm>
            <a:off x="1463040" y="15361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Same shell everywhere</a:t>
            </a:r>
          </a:p>
        </p:txBody>
      </p:sp>
      <p:sp>
        <p:nvSpPr>
          <p:cNvPr id="6" name="Principle 1 text"/>
          <p:cNvSpPr txBox="1"/>
          <p:nvPr/>
        </p:nvSpPr>
        <p:spPr>
          <a:xfrm>
            <a:off x="822959" y="2240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Top bar, role-based menu and tokens of the OneTool design system. No CDN, no framework.</a:t>
            </a:r>
          </a:p>
        </p:txBody>
      </p:sp>
      <p:sp>
        <p:nvSpPr>
          <p:cNvPr id="7" name="Principle 2"/>
          <p:cNvSpPr/>
          <p:nvPr/>
        </p:nvSpPr>
        <p:spPr>
          <a:xfrm>
            <a:off x="6172200" y="1280160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inciple 2 number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Principle 2 head"/>
          <p:cNvSpPr txBox="1"/>
          <p:nvPr/>
        </p:nvSpPr>
        <p:spPr>
          <a:xfrm>
            <a:off x="7086600" y="15361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Colour means something</a:t>
            </a:r>
          </a:p>
        </p:txBody>
      </p:sp>
      <p:sp>
        <p:nvSpPr>
          <p:cNvPr id="10" name="Principle 2 text"/>
          <p:cNvSpPr txBox="1"/>
          <p:nvPr/>
        </p:nvSpPr>
        <p:spPr>
          <a:xfrm>
            <a:off x="6446520" y="2240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Roles, lifecycle states and confidence have fixed colours. Every pair is checked for contrast.</a:t>
            </a:r>
          </a:p>
        </p:txBody>
      </p:sp>
      <p:sp>
        <p:nvSpPr>
          <p:cNvPr id="11" name="Principle 3"/>
          <p:cNvSpPr/>
          <p:nvPr/>
        </p:nvSpPr>
        <p:spPr>
          <a:xfrm>
            <a:off x="548640" y="3749039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inciple 3 number"/>
          <p:cNvSpPr/>
          <p:nvPr/>
        </p:nvSpPr>
        <p:spPr>
          <a:xfrm>
            <a:off x="822959" y="4023359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Principle 3 head"/>
          <p:cNvSpPr txBox="1"/>
          <p:nvPr/>
        </p:nvSpPr>
        <p:spPr>
          <a:xfrm>
            <a:off x="1463040" y="400507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Everyone can use it</a:t>
            </a:r>
          </a:p>
        </p:txBody>
      </p:sp>
      <p:sp>
        <p:nvSpPr>
          <p:cNvPr id="14" name="Principle 3 text"/>
          <p:cNvSpPr txBox="1"/>
          <p:nvPr/>
        </p:nvSpPr>
        <p:spPr>
          <a:xfrm>
            <a:off x="822959" y="47091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Keyboard operable, labelled controls, 19 languages, right to left, dark theme.</a:t>
            </a:r>
          </a:p>
        </p:txBody>
      </p:sp>
      <p:sp>
        <p:nvSpPr>
          <p:cNvPr id="15" name="Principle 4"/>
          <p:cNvSpPr/>
          <p:nvPr/>
        </p:nvSpPr>
        <p:spPr>
          <a:xfrm>
            <a:off x="6172200" y="3749039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inciple 4 number"/>
          <p:cNvSpPr/>
          <p:nvPr/>
        </p:nvSpPr>
        <p:spPr>
          <a:xfrm>
            <a:off x="6446520" y="4023359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Principle 4 head"/>
          <p:cNvSpPr txBox="1"/>
          <p:nvPr/>
        </p:nvSpPr>
        <p:spPr>
          <a:xfrm>
            <a:off x="7086600" y="400507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Nothing is lost</a:t>
            </a:r>
          </a:p>
        </p:txBody>
      </p:sp>
      <p:sp>
        <p:nvSpPr>
          <p:cNvPr id="18" name="Principle 4 text"/>
          <p:cNvSpPr txBox="1"/>
          <p:nvPr/>
        </p:nvSpPr>
        <p:spPr>
          <a:xfrm>
            <a:off x="6446520" y="47091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 rejected form keeps what was typed. Every action is audited.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20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Login</a:t>
            </a:r>
          </a:p>
        </p:txBody>
      </p:sp>
      <p:pic>
        <p:nvPicPr>
          <p:cNvPr id="3" name="Screenshot login" descr="The login page in the light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Password sign-in, with the language choice and the theme choice before anybody is signed in.</a:t>
            </a:r>
          </a:p>
        </p:txBody>
      </p:sp>
      <p:pic>
        <p:nvPicPr>
          <p:cNvPr id="5" name="Screenshot login_dark" descr="The login page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Where the organisation uses Windows accounts, one button signs in with the Windows identity.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shell: top bar and menu</a:t>
            </a:r>
          </a:p>
        </p:txBody>
      </p:sp>
      <p:pic>
        <p:nvPicPr>
          <p:cNvPr id="3" name="Screenshot dashboard_admin" descr="The dashboard of an administrator with the full 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Top bar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Notices, theme, language, the person and their role badge, account and log out.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Menu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Groups open and close; the count beside a link is the work waiting there.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Role colours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Red is the highest role. The colours repeat in lists and reports.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Status Codes: find, filter, share</a:t>
            </a:r>
          </a:p>
        </p:txBody>
      </p:sp>
      <p:pic>
        <p:nvPicPr>
          <p:cNvPr id="3" name="Screenshot list" descr="The status code list with filters, columns and saved search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5" y="1188720"/>
            <a:ext cx="589848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Filters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Search tolerates typos; group, subgroup, platform, lifecycle and category narrow the list.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Columns and saved searches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Choose the columns, save a view and share its link.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State badges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Draft to Archived, always in the same colours and always with words.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Select, select all, delete Drafts</a:t>
            </a:r>
          </a:p>
        </p:txBody>
      </p:sp>
      <p:pic>
        <p:nvPicPr>
          <p:cNvPr id="3" name="Screenshot list_drafts" descr="The list filtered to Drafts with tick box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5" y="1188720"/>
            <a:ext cx="589848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Tick boxes for your own Drafts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Only the author can delete a Draft, so only these rows have a box.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Select all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box in the header ticks every Draft on the page.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All Drafts of a filter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When filtered to Draft, one button deletes your Drafts on every page.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A status code</a:t>
            </a:r>
          </a:p>
        </p:txBody>
      </p:sp>
      <p:pic>
        <p:nvPicPr>
          <p:cNvPr id="3" name="Screenshot detail" descr="The detail page of a released status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Identity and state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number, the state badge and the sign-offs at a glance.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Tabs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Details, history, comparison, where used, translations.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One number, forever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number is issued once, at submit, and never reused.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Writing a code</a:t>
            </a:r>
          </a:p>
        </p:txBody>
      </p:sp>
      <p:pic>
        <p:nvPicPr>
          <p:cNvPr id="3" name="Screenshot new_form" descr="The form for a new status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Help beside every field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Each choice explains itself; subgroups follow the group chosen.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Soft checks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Duplicates, similar titles and range capacity are shown while typing.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Nothing is lost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rejected save keeps every entry and says what to correct.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My work and the queues</a:t>
            </a:r>
          </a:p>
        </p:txBody>
      </p:sp>
      <p:pic>
        <p:nvPicPr>
          <p:cNvPr id="3" name="Screenshot my_requests" descr="The list of the engineer's own change reques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My Change Requests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Your own requests, their state, and who they wait for.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Select and withdraw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Tick several and withdraw them at once; each is reported.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Queues for the roles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Review and approval queues show the age of every request.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Review queue</a:t>
            </a:r>
          </a:p>
        </p:txBody>
      </p:sp>
      <p:pic>
        <p:nvPicPr>
          <p:cNvPr id="3" name="Screenshot review_queue" descr="The review queue of a review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Waiting time as a pill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Green, amber and red follow the service level of the step.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Open and decide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One click to the request with its full history.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Separation of duties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You cannot review your own work.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Sign-off and approval</a:t>
            </a:r>
          </a:p>
        </p:txBody>
      </p:sp>
      <p:pic>
        <p:nvPicPr>
          <p:cNvPr id="3" name="Screenshot cr_detail" descr="A change request waiting for the Chief Engine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The strip of sign-offs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Domain, Reviewer, Administrator and Chief Engineer, each with name and time.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Comments and field notes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Decisions, comments and notes on single fields stay with the request.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Password for decisions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Sensitive steps ask for the password again.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Change sets and the workbench</a:t>
            </a:r>
          </a:p>
        </p:txBody>
      </p:sp>
      <p:pic>
        <p:nvPicPr>
          <p:cNvPr id="3" name="Screenshot workbench" descr="The workbench of the migration change s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Readiness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What still stops each Draft from being submitted.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Bulk edit and bulk steps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Set one value, submit, sign off or decide for the whole batch.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Sample inspection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Draw a sample, mark each code, and one defect stops the batch.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Importing from controller programs</a:t>
            </a:r>
          </a:p>
        </p:txBody>
      </p:sp>
      <p:pic>
        <p:nvPicPr>
          <p:cNvPr id="3" name="Screenshot st_form" descr="The upload form of the im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Upload files, a folder or a ZIP. Choose a category for each alarm type.</a:t>
            </a:r>
          </a:p>
        </p:txBody>
      </p:sp>
      <p:pic>
        <p:nvPicPr>
          <p:cNvPr id="5" name="Screenshot st_preview" descr="The preview of the im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Every program is a row with its new number, alarm type and a category you can change.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Connections</a:t>
            </a:r>
          </a:p>
        </p:txBody>
      </p:sp>
      <p:pic>
        <p:nvPicPr>
          <p:cNvPr id="3" name="Screenshot connections" descr="The connections between status cod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Suppressed by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code that is silenced while its cause is active.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Escalates to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Where a repeating code is replaced by its repeat code.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Read, not guessed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Taken from the programs; loops and missing codes are named.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Releases and exports</a:t>
            </a:r>
          </a:p>
        </p:txBody>
      </p:sp>
      <p:pic>
        <p:nvPicPr>
          <p:cNvPr id="3" name="Screenshot release_builder" descr="The release buil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builder collects approved codes into an immutable release.</a:t>
            </a:r>
          </a:p>
        </p:txBody>
      </p:sp>
      <p:pic>
        <p:nvPicPr>
          <p:cNvPr id="5" name="Screenshot exports" descr="The export cen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Exports and the package, with the download rule applied.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Catalogue health</a:t>
            </a:r>
          </a:p>
        </p:txBody>
      </p:sp>
      <p:pic>
        <p:nvPicPr>
          <p:cNvPr id="3" name="Screenshot health" descr="The catalogue health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Capacity of the ranges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How full each number range is, and when it will run out.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for the controller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Main Controller rows blue, Hub Controller rows light blue.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Stalled work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Requests that wait too long are listed for the administrator.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Translations and confidence</a:t>
            </a:r>
          </a:p>
        </p:txBody>
      </p:sp>
      <p:pic>
        <p:nvPicPr>
          <p:cNvPr id="3" name="Screenshot translations" descr="The overview of the transl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One row per language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Coverage, native-speaker review and the confidence of the pre-check.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Confidence colours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Red up to 50 %, green above 95 %.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New words are checked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Changed or new texts are checked and approved separately.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Languages and right to left</a:t>
            </a:r>
          </a:p>
        </p:txBody>
      </p:sp>
      <p:pic>
        <p:nvPicPr>
          <p:cNvPr id="3" name="Screenshot arabic" descr="The dashboard in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Arabic mirrors the whole layout: menu on the right, tables read from the right.</a:t>
            </a:r>
          </a:p>
        </p:txBody>
      </p:sp>
      <p:pic>
        <p:nvPicPr>
          <p:cNvPr id="5" name="Screenshot arabic_list" descr="The status code list in Arab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Identifiers and numbers stay left to right inside the text.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Light and dark</a:t>
            </a:r>
          </a:p>
        </p:txBody>
      </p:sp>
      <p:pic>
        <p:nvPicPr>
          <p:cNvPr id="3" name="Screenshot detail" descr="A status code in the light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Light: ink on paper, for the office and for print.</a:t>
            </a:r>
          </a:p>
        </p:txBody>
      </p:sp>
      <p:pic>
        <p:nvPicPr>
          <p:cNvPr id="5" name="Screenshot detail_dark" descr="A status code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Dark: the same page, with every colour pair checked for contrast.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People and roles</a:t>
            </a:r>
          </a:p>
        </p:txBody>
      </p:sp>
      <p:pic>
        <p:nvPicPr>
          <p:cNvPr id="3" name="Screenshot users" descr="The user admini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Six roles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Viewer, Engineer, Reviewer, Chief Engineer, Administrator, StCd Owner.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is the level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role badge colour is the same everywhere it appears.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Accounts by e-mail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e-mail address is fixed and links the Windows identity.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On a phone</a:t>
            </a:r>
          </a:p>
        </p:txBody>
      </p:sp>
      <p:pic>
        <p:nvPicPr>
          <p:cNvPr id="3" name="Screenshot phone_dashboard" descr="The dashboard on a ph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67028"/>
            <a:ext cx="2194560" cy="438912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Dashboard</a:t>
            </a:r>
          </a:p>
        </p:txBody>
      </p:sp>
      <p:pic>
        <p:nvPicPr>
          <p:cNvPr id="5" name="Screenshot phone_list" descr="The status codes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367028"/>
            <a:ext cx="2194560" cy="438912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301752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Status codes</a:t>
            </a:r>
          </a:p>
        </p:txBody>
      </p:sp>
      <p:sp>
        <p:nvSpPr>
          <p:cNvPr id="7" name="Note 1"/>
          <p:cNvSpPr/>
          <p:nvPr/>
        </p:nvSpPr>
        <p:spPr>
          <a:xfrm>
            <a:off x="5760720" y="12984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Note 1 text"/>
          <p:cNvSpPr txBox="1"/>
          <p:nvPr/>
        </p:nvSpPr>
        <p:spPr>
          <a:xfrm>
            <a:off x="6309359" y="128016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Menu on demand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button opens the menu; Esc closes it.</a:t>
            </a:r>
          </a:p>
        </p:txBody>
      </p:sp>
      <p:sp>
        <p:nvSpPr>
          <p:cNvPr id="9" name="Note 2"/>
          <p:cNvSpPr/>
          <p:nvPr/>
        </p:nvSpPr>
        <p:spPr>
          <a:xfrm>
            <a:off x="5760720" y="276148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Note 2 text"/>
          <p:cNvSpPr txBox="1"/>
          <p:nvPr/>
        </p:nvSpPr>
        <p:spPr>
          <a:xfrm>
            <a:off x="6309359" y="274320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Touch-sized targets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Buttons and links are at least 44 by 44 pixels.</a:t>
            </a:r>
          </a:p>
        </p:txBody>
      </p:sp>
      <p:sp>
        <p:nvSpPr>
          <p:cNvPr id="11" name="Note 3"/>
          <p:cNvSpPr/>
          <p:nvPr/>
        </p:nvSpPr>
        <p:spPr>
          <a:xfrm>
            <a:off x="5760720" y="4224527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Note 3 text"/>
          <p:cNvSpPr txBox="1"/>
          <p:nvPr/>
        </p:nvSpPr>
        <p:spPr>
          <a:xfrm>
            <a:off x="6309359" y="420624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No horizontal page scroll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Wide tables scroll inside their card.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Rules for every new screen</a:t>
            </a:r>
          </a:p>
        </p:txBody>
      </p:sp>
      <p:sp>
        <p:nvSpPr>
          <p:cNvPr id="3" name="Rule 1"/>
          <p:cNvSpPr/>
          <p:nvPr/>
        </p:nvSpPr>
        <p:spPr>
          <a:xfrm>
            <a:off x="548640" y="12801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le 1 number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ule 1 head"/>
          <p:cNvSpPr txBox="1"/>
          <p:nvPr/>
        </p:nvSpPr>
        <p:spPr>
          <a:xfrm>
            <a:off x="1463040" y="137160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Use tokens, never colours</a:t>
            </a:r>
          </a:p>
        </p:txBody>
      </p:sp>
      <p:sp>
        <p:nvSpPr>
          <p:cNvPr id="6" name="Rule 1 text"/>
          <p:cNvSpPr txBox="1"/>
          <p:nvPr/>
        </p:nvSpPr>
        <p:spPr>
          <a:xfrm>
            <a:off x="5029200" y="137160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var(--color-surface), var(--tint-warn-bg) ... A test fails on a hex colour outside the tokens.</a:t>
            </a:r>
          </a:p>
        </p:txBody>
      </p:sp>
      <p:sp>
        <p:nvSpPr>
          <p:cNvPr id="7" name="Rule 2"/>
          <p:cNvSpPr/>
          <p:nvPr/>
        </p:nvSpPr>
        <p:spPr>
          <a:xfrm>
            <a:off x="548640" y="2267712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ule 2 number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ule 2 head"/>
          <p:cNvSpPr txBox="1"/>
          <p:nvPr/>
        </p:nvSpPr>
        <p:spPr>
          <a:xfrm>
            <a:off x="1463040" y="2359152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Give a dark twin to a new token</a:t>
            </a:r>
          </a:p>
        </p:txBody>
      </p:sp>
      <p:sp>
        <p:nvSpPr>
          <p:cNvPr id="10" name="Rule 2 text"/>
          <p:cNvSpPr txBox="1"/>
          <p:nvPr/>
        </p:nvSpPr>
        <p:spPr>
          <a:xfrm>
            <a:off x="5029200" y="235915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light token without a dark value would stay light on a dark page.</a:t>
            </a:r>
          </a:p>
        </p:txBody>
      </p:sp>
      <p:sp>
        <p:nvSpPr>
          <p:cNvPr id="11" name="Rule 3"/>
          <p:cNvSpPr/>
          <p:nvPr/>
        </p:nvSpPr>
        <p:spPr>
          <a:xfrm>
            <a:off x="548640" y="3255264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ule 3 number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ule 3 head"/>
          <p:cNvSpPr txBox="1"/>
          <p:nvPr/>
        </p:nvSpPr>
        <p:spPr>
          <a:xfrm>
            <a:off x="1463040" y="3346704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Label every control</a:t>
            </a:r>
          </a:p>
        </p:txBody>
      </p:sp>
      <p:sp>
        <p:nvSpPr>
          <p:cNvPr id="14" name="Rule 3 text"/>
          <p:cNvSpPr txBox="1"/>
          <p:nvPr/>
        </p:nvSpPr>
        <p:spPr>
          <a:xfrm>
            <a:off x="5029200" y="3346704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visible label or an accessible name; tables use scope on their headers.</a:t>
            </a:r>
          </a:p>
        </p:txBody>
      </p:sp>
      <p:sp>
        <p:nvSpPr>
          <p:cNvPr id="15" name="Rule 4"/>
          <p:cNvSpPr/>
          <p:nvPr/>
        </p:nvSpPr>
        <p:spPr>
          <a:xfrm>
            <a:off x="548640" y="4242816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ule 4 number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ule 4 head"/>
          <p:cNvSpPr txBox="1"/>
          <p:nvPr/>
        </p:nvSpPr>
        <p:spPr>
          <a:xfrm>
            <a:off x="1463040" y="433425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Words for states, not only colour</a:t>
            </a:r>
          </a:p>
        </p:txBody>
      </p:sp>
      <p:sp>
        <p:nvSpPr>
          <p:cNvPr id="18" name="Rule 4 text"/>
          <p:cNvSpPr txBox="1"/>
          <p:nvPr/>
        </p:nvSpPr>
        <p:spPr>
          <a:xfrm>
            <a:off x="5029200" y="4334256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Badges carry the state as text.</a:t>
            </a:r>
          </a:p>
        </p:txBody>
      </p:sp>
      <p:sp>
        <p:nvSpPr>
          <p:cNvPr id="19" name="Rule 5"/>
          <p:cNvSpPr/>
          <p:nvPr/>
        </p:nvSpPr>
        <p:spPr>
          <a:xfrm>
            <a:off x="548640" y="523036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ule 5 number"/>
          <p:cNvSpPr/>
          <p:nvPr/>
        </p:nvSpPr>
        <p:spPr>
          <a:xfrm>
            <a:off x="777240" y="5431536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ule 5 head"/>
          <p:cNvSpPr txBox="1"/>
          <p:nvPr/>
        </p:nvSpPr>
        <p:spPr>
          <a:xfrm>
            <a:off x="1463040" y="5321808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Translate every text</a:t>
            </a:r>
          </a:p>
        </p:txBody>
      </p:sp>
      <p:sp>
        <p:nvSpPr>
          <p:cNvPr id="22" name="Rule 5 text"/>
          <p:cNvSpPr txBox="1"/>
          <p:nvPr/>
        </p:nvSpPr>
        <p:spPr>
          <a:xfrm>
            <a:off x="5029200" y="5321808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New words go through the confidence check and a separate approval.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24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The same rules, from login to release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548640" y="2834640"/>
            <a:ext cx="6583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One shell, tokens for every colour, both themes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Governance visible in every screen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Version 4.16.0: 1,025 tests, 19 languages</a:t>
            </a:r>
          </a:p>
        </p:txBody>
      </p:sp>
      <p:pic>
        <p:nvPicPr>
          <p:cNvPr id="4" name="Screenshot dashboard_dark" descr="The dashboard in the dark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4114800" cy="257175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v4.16.0  ·  Design walkthrough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CSCM Tool - Design showcase for the team - v4.16.0</dc:title>
  <dc:subject>Design showcase for the team</dc:subject>
  <dc:creator>CSCM Tool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