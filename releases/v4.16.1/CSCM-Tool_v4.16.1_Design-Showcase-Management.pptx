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4.16.1, 2026-10-27.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in one slide: a code is created, reviewed, approved, versioned and released in one place, and everything else is derived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of an engineer. The menu on the left follows the role; the badge next to the name shows the role by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person can release a code: the author, a reviewer, an administrator and the Chief Engineer all take part, and a domain engineer signs off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Roughly 900 Main Controller and 350 Hub Controller codes pass the same governance as a single code. The sample inspection keeps bulk decisions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come from the latest test report and the requirement documents of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interface follows the user's language, can switch between light and dark, and works on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Releases are immutable once published. The package is built in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connections are read from the controller programs themselves, never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Taken from the improvement list of this version. Newest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Management overview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4.16.1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2026-10-27</a:t>
            </a:r>
          </a:p>
        </p:txBody>
      </p:sp>
      <p:pic>
        <p:nvPicPr>
          <p:cNvPr id="8" name="Screenshot dashboard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One governed source of truth for every status code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1 head"/>
          <p:cNvSpPr txBox="1"/>
          <p:nvPr/>
        </p:nvSpPr>
        <p:spPr>
          <a:xfrm>
            <a:off x="82295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Before</a:t>
            </a:r>
          </a:p>
        </p:txBody>
      </p:sp>
      <p:sp>
        <p:nvSpPr>
          <p:cNvPr id="5" name="Card 1 text"/>
          <p:cNvSpPr txBox="1"/>
          <p:nvPr/>
        </p:nvSpPr>
        <p:spPr>
          <a:xfrm>
            <a:off x="82295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Codes lived in documents. A change was hard to trace and hard to reuse.</a:t>
            </a:r>
          </a:p>
        </p:txBody>
      </p:sp>
      <p:sp>
        <p:nvSpPr>
          <p:cNvPr id="6" name="Card 2"/>
          <p:cNvSpPr/>
          <p:nvPr/>
        </p:nvSpPr>
        <p:spPr>
          <a:xfrm>
            <a:off x="429767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2 head"/>
          <p:cNvSpPr txBox="1"/>
          <p:nvPr/>
        </p:nvSpPr>
        <p:spPr>
          <a:xfrm>
            <a:off x="457199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With the tool</a:t>
            </a:r>
          </a:p>
        </p:txBody>
      </p:sp>
      <p:sp>
        <p:nvSpPr>
          <p:cNvPr id="8" name="Card 2 text"/>
          <p:cNvSpPr txBox="1"/>
          <p:nvPr/>
        </p:nvSpPr>
        <p:spPr>
          <a:xfrm>
            <a:off x="457199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A code is created, reviewed, approved, versioned and released in one place.</a:t>
            </a:r>
          </a:p>
        </p:txBody>
      </p:sp>
      <p:sp>
        <p:nvSpPr>
          <p:cNvPr id="9" name="Card 3"/>
          <p:cNvSpPr/>
          <p:nvPr/>
        </p:nvSpPr>
        <p:spPr>
          <a:xfrm>
            <a:off x="804671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 head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The result</a:t>
            </a:r>
          </a:p>
        </p:txBody>
      </p:sp>
      <p:sp>
        <p:nvSpPr>
          <p:cNvPr id="11" name="Card 3 text"/>
          <p:cNvSpPr txBox="1"/>
          <p:nvPr/>
        </p:nvSpPr>
        <p:spPr>
          <a:xfrm>
            <a:off x="8321040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Manuals, specifications and SCADA lists are produced from approved codes only.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Everything people need, in one place</a:t>
            </a:r>
          </a:p>
        </p:txBody>
      </p:sp>
      <p:pic>
        <p:nvPicPr>
          <p:cNvPr id="3" name="Screenshot dashboard" descr="The dashboard with counters for the work that waits for the signed-in per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menu for the role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person sees only what their role may do.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Work that waits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Counters and links lead straight to reviews, approvals and drafts.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with meaning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Roles and lifecycle states have fixed colours, never decoration.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Three independent decisions before a release</a:t>
            </a:r>
          </a:p>
        </p:txBody>
      </p:sp>
      <p:sp>
        <p:nvSpPr>
          <p:cNvPr id="3" name="Step Draft"/>
          <p:cNvSpPr/>
          <p:nvPr/>
        </p:nvSpPr>
        <p:spPr>
          <a:xfrm>
            <a:off x="548640" y="1417320"/>
            <a:ext cx="2377440" cy="868680"/>
          </a:xfrm>
          <a:prstGeom prst="chevron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4" name="Step Review"/>
          <p:cNvSpPr/>
          <p:nvPr/>
        </p:nvSpPr>
        <p:spPr>
          <a:xfrm>
            <a:off x="2788920" y="1417320"/>
            <a:ext cx="2377440" cy="868680"/>
          </a:xfrm>
          <a:prstGeom prst="chevron">
            <a:avLst/>
          </a:prstGeom>
          <a:solidFill>
            <a:srgbClr val="2E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" name="Step Pending"/>
          <p:cNvSpPr/>
          <p:nvPr/>
        </p:nvSpPr>
        <p:spPr>
          <a:xfrm>
            <a:off x="5029200" y="1417320"/>
            <a:ext cx="2377440" cy="868680"/>
          </a:xfrm>
          <a:prstGeom prst="chevron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6" name="Step Approved"/>
          <p:cNvSpPr/>
          <p:nvPr/>
        </p:nvSpPr>
        <p:spPr>
          <a:xfrm>
            <a:off x="7269480" y="1417320"/>
            <a:ext cx="2377440" cy="868680"/>
          </a:xfrm>
          <a:prstGeom prst="chevron">
            <a:avLst/>
          </a:prstGeom>
          <a:solidFill>
            <a:srgbClr val="1E7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7" name="Step Released"/>
          <p:cNvSpPr/>
          <p:nvPr/>
        </p:nvSpPr>
        <p:spPr>
          <a:xfrm>
            <a:off x="9509760" y="1417320"/>
            <a:ext cx="2377440" cy="868680"/>
          </a:xfrm>
          <a:prstGeom prst="chevron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Released</a:t>
            </a:r>
          </a:p>
        </p:txBody>
      </p:sp>
      <p:sp>
        <p:nvSpPr>
          <p:cNvPr id="8" name="Decision 1"/>
          <p:cNvSpPr/>
          <p:nvPr/>
        </p:nvSpPr>
        <p:spPr>
          <a:xfrm>
            <a:off x="548640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1 number"/>
          <p:cNvSpPr/>
          <p:nvPr/>
        </p:nvSpPr>
        <p:spPr>
          <a:xfrm>
            <a:off x="82295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Decision 1 head"/>
          <p:cNvSpPr txBox="1"/>
          <p:nvPr/>
        </p:nvSpPr>
        <p:spPr>
          <a:xfrm>
            <a:off x="1463040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Reviewer</a:t>
            </a:r>
          </a:p>
        </p:txBody>
      </p:sp>
      <p:sp>
        <p:nvSpPr>
          <p:cNvPr id="11" name="Decision 1 text"/>
          <p:cNvSpPr txBox="1"/>
          <p:nvPr/>
        </p:nvSpPr>
        <p:spPr>
          <a:xfrm>
            <a:off x="82295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Checks content and wording, and signs off.</a:t>
            </a:r>
          </a:p>
        </p:txBody>
      </p:sp>
      <p:sp>
        <p:nvSpPr>
          <p:cNvPr id="12" name="Decision 2"/>
          <p:cNvSpPr/>
          <p:nvPr/>
        </p:nvSpPr>
        <p:spPr>
          <a:xfrm>
            <a:off x="429767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ision 2 number"/>
          <p:cNvSpPr/>
          <p:nvPr/>
        </p:nvSpPr>
        <p:spPr>
          <a:xfrm>
            <a:off x="457199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Decision 2 head"/>
          <p:cNvSpPr txBox="1"/>
          <p:nvPr/>
        </p:nvSpPr>
        <p:spPr>
          <a:xfrm>
            <a:off x="521207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Administrator</a:t>
            </a:r>
          </a:p>
        </p:txBody>
      </p:sp>
      <p:sp>
        <p:nvSpPr>
          <p:cNvPr id="15" name="Decision 2 text"/>
          <p:cNvSpPr txBox="1"/>
          <p:nvPr/>
        </p:nvSpPr>
        <p:spPr>
          <a:xfrm>
            <a:off x="457199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Confirms audience access and signs off.</a:t>
            </a:r>
          </a:p>
        </p:txBody>
      </p:sp>
      <p:sp>
        <p:nvSpPr>
          <p:cNvPr id="16" name="Decision 3"/>
          <p:cNvSpPr/>
          <p:nvPr/>
        </p:nvSpPr>
        <p:spPr>
          <a:xfrm>
            <a:off x="804671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ision 3 number"/>
          <p:cNvSpPr/>
          <p:nvPr/>
        </p:nvSpPr>
        <p:spPr>
          <a:xfrm>
            <a:off x="8321040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Decision 3 head"/>
          <p:cNvSpPr txBox="1"/>
          <p:nvPr/>
        </p:nvSpPr>
        <p:spPr>
          <a:xfrm>
            <a:off x="896111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Chief Engineer</a:t>
            </a:r>
          </a:p>
        </p:txBody>
      </p:sp>
      <p:sp>
        <p:nvSpPr>
          <p:cNvPr id="19" name="Decision 3 text"/>
          <p:cNvSpPr txBox="1"/>
          <p:nvPr/>
        </p:nvSpPr>
        <p:spPr>
          <a:xfrm>
            <a:off x="8321040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Approves. Nobody can approve their own work.</a:t>
            </a:r>
          </a:p>
        </p:txBody>
      </p:sp>
      <p:sp>
        <p:nvSpPr>
          <p:cNvPr id="20" name="Note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Before the review, the engineering domains concerned sign off the content (cross-domain sign-off). Every step is recorded in an audit log that cannot be changed.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22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first migration: about 1,250 codes</a:t>
            </a:r>
          </a:p>
        </p:txBody>
      </p:sp>
      <p:pic>
        <p:nvPicPr>
          <p:cNvPr id="3" name="Screenshot st_preview" descr="The preview of an import from controller program 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Programs are read from the controller files and previewed. Nothing is created until a person has looked.</a:t>
            </a:r>
          </a:p>
        </p:txBody>
      </p:sp>
      <p:pic>
        <p:nvPicPr>
          <p:cNvPr id="5" name="Screenshot workbench" descr="The workbench of a change set with the readiness of every dra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workbench lets each step work on the whole batch, with a sample inspection that one defect can stop.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Built to be trusted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gure 1"/>
          <p:cNvSpPr txBox="1"/>
          <p:nvPr/>
        </p:nvSpPr>
        <p:spPr>
          <a:xfrm>
            <a:off x="731520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1,035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77240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automated tests, all passing</a:t>
            </a:r>
          </a:p>
        </p:txBody>
      </p:sp>
      <p:sp>
        <p:nvSpPr>
          <p:cNvPr id="6" name="Card 2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ure 2"/>
          <p:cNvSpPr txBox="1"/>
          <p:nvPr/>
        </p:nvSpPr>
        <p:spPr>
          <a:xfrm>
            <a:off x="3573018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93 %</a:t>
            </a:r>
          </a:p>
        </p:txBody>
      </p:sp>
      <p:sp>
        <p:nvSpPr>
          <p:cNvPr id="8" name="Label 2"/>
          <p:cNvSpPr txBox="1"/>
          <p:nvPr/>
        </p:nvSpPr>
        <p:spPr>
          <a:xfrm>
            <a:off x="3618738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of the application code covered</a:t>
            </a:r>
          </a:p>
        </p:txBody>
      </p:sp>
      <p:sp>
        <p:nvSpPr>
          <p:cNvPr id="9" name="Card 3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ure 3"/>
          <p:cNvSpPr txBox="1"/>
          <p:nvPr/>
        </p:nvSpPr>
        <p:spPr>
          <a:xfrm>
            <a:off x="6414516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218</a:t>
            </a:r>
          </a:p>
        </p:txBody>
      </p:sp>
      <p:sp>
        <p:nvSpPr>
          <p:cNvPr id="11" name="Label 3"/>
          <p:cNvSpPr txBox="1"/>
          <p:nvPr/>
        </p:nvSpPr>
        <p:spPr>
          <a:xfrm>
            <a:off x="6460236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requirements, each traced to tests</a:t>
            </a:r>
          </a:p>
        </p:txBody>
      </p:sp>
      <p:sp>
        <p:nvSpPr>
          <p:cNvPr id="12" name="Card 4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ure 4"/>
          <p:cNvSpPr txBox="1"/>
          <p:nvPr/>
        </p:nvSpPr>
        <p:spPr>
          <a:xfrm>
            <a:off x="9256013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19</a:t>
            </a:r>
          </a:p>
        </p:txBody>
      </p:sp>
      <p:sp>
        <p:nvSpPr>
          <p:cNvPr id="14" name="Label 4"/>
          <p:cNvSpPr txBox="1"/>
          <p:nvPr/>
        </p:nvSpPr>
        <p:spPr>
          <a:xfrm>
            <a:off x="9301734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languages, including right to left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48640" y="48006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The REST API has 161 operations, the database 61 tables. Every change of a code is kept with who, when and why.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Looks right in every language and light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Right to left for Arabic</a:t>
            </a:r>
          </a:p>
        </p:txBody>
      </p:sp>
      <p:pic>
        <p:nvPicPr>
          <p:cNvPr id="5" name="Screenshot dashboard_dark" descr="The dashboard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4709159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 theme, set by the system or by choice</a:t>
            </a:r>
          </a:p>
        </p:txBody>
      </p:sp>
      <p:pic>
        <p:nvPicPr>
          <p:cNvPr id="7" name="Screenshot phone_dashboard" descr="The dashboard on a ph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57884"/>
            <a:ext cx="2057400" cy="41148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Caption 3"/>
          <p:cNvSpPr txBox="1"/>
          <p:nvPr/>
        </p:nvSpPr>
        <p:spPr>
          <a:xfrm>
            <a:off x="8869680" y="5715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And on a phone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people can rely on</a:t>
            </a:r>
          </a:p>
        </p:txBody>
      </p:sp>
      <p:pic>
        <p:nvPicPr>
          <p:cNvPr id="3" name="Screenshot release_builder" descr="The release builder with the approved codes of the next rele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fixed baseline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release holds the latest published revision of every code.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package for every audience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All languages, access levels and formats in one download.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clear download rule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Everyone downloads what is released; the working set stays internal.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Insight for engineering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Catalogue health: how full each number range is, and what stalls.</a:t>
            </a:r>
          </a:p>
        </p:txBody>
      </p:sp>
      <p:pic>
        <p:nvPicPr>
          <p:cNvPr id="5" name="Screenshot connections" descr="The connections between status cod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Connections: which code suppresses, requires or escalates to which.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Recently delivered</a:t>
            </a:r>
          </a:p>
        </p:txBody>
      </p:sp>
      <p:sp>
        <p:nvSpPr>
          <p:cNvPr id="3" name="Row 1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w 1 version"/>
          <p:cNvSpPr txBox="1"/>
          <p:nvPr/>
        </p:nvSpPr>
        <p:spPr>
          <a:xfrm>
            <a:off x="777240" y="141732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v4.14.0</a:t>
            </a:r>
          </a:p>
        </p:txBody>
      </p:sp>
      <p:sp>
        <p:nvSpPr>
          <p:cNvPr id="5" name="Row 1 text"/>
          <p:cNvSpPr txBox="1"/>
          <p:nvPr/>
        </p:nvSpPr>
        <p:spPr>
          <a:xfrm>
            <a:off x="2651760" y="1371600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Dark mode</a:t>
            </a:r>
          </a:p>
        </p:txBody>
      </p:sp>
      <p:sp>
        <p:nvSpPr>
          <p:cNvPr id="6" name="Row 1 requirement"/>
          <p:cNvSpPr txBox="1"/>
          <p:nvPr/>
        </p:nvSpPr>
        <p:spPr>
          <a:xfrm>
            <a:off x="10332719" y="141732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FR-183</a:t>
            </a:r>
          </a:p>
        </p:txBody>
      </p:sp>
      <p:sp>
        <p:nvSpPr>
          <p:cNvPr id="7" name="Row 2"/>
          <p:cNvSpPr/>
          <p:nvPr/>
        </p:nvSpPr>
        <p:spPr>
          <a:xfrm>
            <a:off x="548640" y="2084831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w 2 version"/>
          <p:cNvSpPr txBox="1"/>
          <p:nvPr/>
        </p:nvSpPr>
        <p:spPr>
          <a:xfrm>
            <a:off x="777240" y="217627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v4.14.1</a:t>
            </a:r>
          </a:p>
        </p:txBody>
      </p:sp>
      <p:sp>
        <p:nvSpPr>
          <p:cNvPr id="9" name="Row 2 text"/>
          <p:cNvSpPr txBox="1"/>
          <p:nvPr/>
        </p:nvSpPr>
        <p:spPr>
          <a:xfrm>
            <a:off x="2651760" y="2130551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Visible version</a:t>
            </a:r>
          </a:p>
        </p:txBody>
      </p:sp>
      <p:sp>
        <p:nvSpPr>
          <p:cNvPr id="10" name="Row 2 requirement"/>
          <p:cNvSpPr txBox="1"/>
          <p:nvPr/>
        </p:nvSpPr>
        <p:spPr>
          <a:xfrm>
            <a:off x="10332719" y="217627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FR-184</a:t>
            </a:r>
          </a:p>
        </p:txBody>
      </p:sp>
      <p:sp>
        <p:nvSpPr>
          <p:cNvPr id="11" name="Row 3"/>
          <p:cNvSpPr/>
          <p:nvPr/>
        </p:nvSpPr>
        <p:spPr>
          <a:xfrm>
            <a:off x="548640" y="2843784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3 version"/>
          <p:cNvSpPr txBox="1"/>
          <p:nvPr/>
        </p:nvSpPr>
        <p:spPr>
          <a:xfrm>
            <a:off x="777240" y="293522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v4.15.0</a:t>
            </a:r>
          </a:p>
        </p:txBody>
      </p:sp>
      <p:sp>
        <p:nvSpPr>
          <p:cNvPr id="13" name="Row 3 text"/>
          <p:cNvSpPr txBox="1"/>
          <p:nvPr/>
        </p:nvSpPr>
        <p:spPr>
          <a:xfrm>
            <a:off x="2651760" y="2889503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Release documents as PDF</a:t>
            </a:r>
          </a:p>
        </p:txBody>
      </p:sp>
      <p:sp>
        <p:nvSpPr>
          <p:cNvPr id="14" name="Row 3 requirement"/>
          <p:cNvSpPr txBox="1"/>
          <p:nvPr/>
        </p:nvSpPr>
        <p:spPr>
          <a:xfrm>
            <a:off x="10332719" y="29352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FR-185</a:t>
            </a:r>
          </a:p>
        </p:txBody>
      </p:sp>
      <p:sp>
        <p:nvSpPr>
          <p:cNvPr id="15" name="Row 4"/>
          <p:cNvSpPr/>
          <p:nvPr/>
        </p:nvSpPr>
        <p:spPr>
          <a:xfrm>
            <a:off x="548640" y="3602735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4 version"/>
          <p:cNvSpPr txBox="1"/>
          <p:nvPr/>
        </p:nvSpPr>
        <p:spPr>
          <a:xfrm>
            <a:off x="777240" y="3694175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17" name="Row 4 text"/>
          <p:cNvSpPr txBox="1"/>
          <p:nvPr/>
        </p:nvSpPr>
        <p:spPr>
          <a:xfrm>
            <a:off x="2651760" y="3648455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Design showcase decks</a:t>
            </a:r>
          </a:p>
        </p:txBody>
      </p:sp>
      <p:sp>
        <p:nvSpPr>
          <p:cNvPr id="18" name="Row 4 requirement"/>
          <p:cNvSpPr txBox="1"/>
          <p:nvPr/>
        </p:nvSpPr>
        <p:spPr>
          <a:xfrm>
            <a:off x="10332719" y="3694175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FR-186, FR-187</a:t>
            </a:r>
          </a:p>
        </p:txBody>
      </p:sp>
      <p:sp>
        <p:nvSpPr>
          <p:cNvPr id="19" name="Row 5"/>
          <p:cNvSpPr/>
          <p:nvPr/>
        </p:nvSpPr>
        <p:spPr>
          <a:xfrm>
            <a:off x="548640" y="4361688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5 version"/>
          <p:cNvSpPr txBox="1"/>
          <p:nvPr/>
        </p:nvSpPr>
        <p:spPr>
          <a:xfrm>
            <a:off x="777240" y="4453127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21" name="Row 5 text"/>
          <p:cNvSpPr txBox="1"/>
          <p:nvPr/>
        </p:nvSpPr>
        <p:spPr>
          <a:xfrm>
            <a:off x="2651760" y="4407407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Hand-over to the team repository</a:t>
            </a:r>
          </a:p>
        </p:txBody>
      </p:sp>
      <p:sp>
        <p:nvSpPr>
          <p:cNvPr id="22" name="Row 5 requirement"/>
          <p:cNvSpPr txBox="1"/>
          <p:nvPr/>
        </p:nvSpPr>
        <p:spPr>
          <a:xfrm>
            <a:off x="10332719" y="4453127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FR-188</a:t>
            </a:r>
          </a:p>
        </p:txBody>
      </p:sp>
      <p:sp>
        <p:nvSpPr>
          <p:cNvPr id="23" name="Row 6"/>
          <p:cNvSpPr/>
          <p:nvPr/>
        </p:nvSpPr>
        <p:spPr>
          <a:xfrm>
            <a:off x="548640" y="512064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6 version"/>
          <p:cNvSpPr txBox="1"/>
          <p:nvPr/>
        </p:nvSpPr>
        <p:spPr>
          <a:xfrm>
            <a:off x="777240" y="521207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v4.16.1</a:t>
            </a:r>
          </a:p>
        </p:txBody>
      </p:sp>
      <p:sp>
        <p:nvSpPr>
          <p:cNvPr id="25" name="Row 6 text"/>
          <p:cNvSpPr txBox="1"/>
          <p:nvPr/>
        </p:nvSpPr>
        <p:spPr>
          <a:xfrm>
            <a:off x="2651760" y="5166359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No assumed values in the .st import</a:t>
            </a:r>
          </a:p>
        </p:txBody>
      </p:sp>
      <p:sp>
        <p:nvSpPr>
          <p:cNvPr id="26" name="Row 6 requirement"/>
          <p:cNvSpPr txBox="1"/>
          <p:nvPr/>
        </p:nvSpPr>
        <p:spPr>
          <a:xfrm>
            <a:off x="10332719" y="5212079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FR-189, FR-190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Governed, traceable, ready for the first migration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Every code created, reviewed, approved and released in one tool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Bulk work for the migration, kept honest by a sample inspection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Languages, accessibility and a dark theme from the start</a:t>
            </a:r>
          </a:p>
        </p:txBody>
      </p:sp>
      <p:pic>
        <p:nvPicPr>
          <p:cNvPr id="4" name="Screenshot login_dark" descr="The login page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v4.16.1  ·  Management overview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management - v4.16.1</dc:title>
  <dc:subject>Design showcase for management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